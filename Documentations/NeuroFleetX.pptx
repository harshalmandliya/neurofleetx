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4" r:id="rId17"/>
    <p:sldId id="275" r:id="rId18"/>
  </p:sldIdLst>
  <p:sldSz cx="14630400" cy="8229600"/>
  <p:notesSz cx="8229600" cy="14630400"/>
  <p:embeddedFontLst>
    <p:embeddedFont>
      <p:font typeface="Roboto Slab" panose="020B0604020202020204" charset="0"/>
      <p:regular r:id="rId20"/>
    </p:embeddedFont>
    <p:embeddedFont>
      <p:font typeface="Roboto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e402a5ed509447b9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54fec12023f6429b" Type="http://schemas.openxmlformats.org/officeDocument/2006/relationships/image" Target="../media/image.svg"/><Relationship Id="R0b266c73a3df4b15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623e0cd76af948d5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30320dcebcee4330" Type="http://schemas.openxmlformats.org/officeDocument/2006/relationships/image" Target="../media/image5.svg"/><Relationship Id="R9cf9982ab191488f" Type="http://schemas.openxmlformats.org/officeDocument/2006/relationships/image" Target="../media/image8.svg"/><Relationship Id="R9bcb2b12558c4ceb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2bdc81e5e59f433d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NeuroFleetX: Intelligent Taxi Dispatch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Rectangle 4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6030"/>
            <a:ext cx="93554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Challenge: Inefficient Dispatch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843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taxi dispatch systems rely on outdated, static methods, leading to significant inefficiencies and a suboptimal user experience.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193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54fec12023f6429b"/>
              </a:ext>
            </a:extLst>
          </a:blip>
          <a:stretch>
            <a:fillRect/>
          </a:stretch>
        </p:blipFill>
        <p:spPr>
          <a:xfrm>
            <a:off x="878860" y="3804404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37972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Static Allocation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287679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Solely based on distance, ignoring real-world dynamics.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6884" y="37193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623e0cd76af948d5"/>
              </a:ext>
            </a:extLst>
          </a:blip>
          <a:stretch>
            <a:fillRect/>
          </a:stretch>
        </p:blipFill>
        <p:spPr>
          <a:xfrm>
            <a:off x="7541955" y="3804404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94000" y="3797260"/>
            <a:ext cx="34020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Real-time Intelligence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194000" y="4287679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Lacks consideration for traffic, weather, or driver load.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510420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0b266c73a3df4b15"/>
              </a:ext>
            </a:extLst>
          </a:blip>
          <a:stretch>
            <a:fillRect/>
          </a:stretch>
        </p:blipFill>
        <p:spPr>
          <a:xfrm>
            <a:off x="878860" y="5189220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0906" y="5182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Inaccurate ETAs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530906" y="5672495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predictability leads to user frustration.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456884" y="510420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e402a5ed509447b9"/>
              </a:ext>
            </a:extLst>
          </a:blip>
          <a:stretch>
            <a:fillRect/>
          </a:stretch>
        </p:blipFill>
        <p:spPr>
          <a:xfrm>
            <a:off x="7541955" y="5189220"/>
            <a:ext cx="340162" cy="3401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94000" y="5182076"/>
            <a:ext cx="28701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Poor User Experience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194000" y="5672495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Delays, lack of transparency, and operational friction.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793790" y="62905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</a:t>
            </a:r>
            <a:r>
              <a:rPr lang="en-US" sz="175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Statement :</a:t>
            </a:r>
            <a:r>
              <a:rPr lang="en-US" sz="175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systems lack predictive, AI-driven decision-making, hindering efficiency and user satisfaction.</a:t>
            </a:r>
            <a:endParaRPr lang="en-US" sz="1750" dirty="0"/>
          </a:p>
        </p:txBody>
      </p:sp>
      <p:sp>
        <p:nvSpPr>
          <p:cNvPr id="21" name="Rectangle 20"/>
          <p:cNvSpPr/>
          <p:nvPr/>
        </p:nvSpPr>
        <p:spPr>
          <a:xfrm>
            <a:off x="12120880" y="764032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6335"/>
            <a:ext cx="102410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NeuroFleetX: Our AI-Powered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187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NeuroFleetX revolutionizes taxi dispatch with an intelligent platform integrating advanced AI and machine learning for superior efficiency and transparency.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30320dcebcee4330"/>
              </a:ext>
            </a:extLst>
          </a:blip>
          <a:stretch>
            <a:fillRect/>
          </a:stretch>
        </p:blipFill>
        <p:spPr>
          <a:xfrm>
            <a:off x="793790" y="3299698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434358"/>
            <a:ext cx="29683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 for ETA Prediction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924776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Leveraging sophisticated algorithms to forecast arrival times with unparalleled accuracy.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9bcb2b12558c4ceb"/>
              </a:ext>
            </a:extLst>
          </a:blip>
          <a:stretch>
            <a:fillRect/>
          </a:stretch>
        </p:blipFill>
        <p:spPr>
          <a:xfrm>
            <a:off x="7456884" y="3299698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434358"/>
            <a:ext cx="29261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Multi-Factor Dispatch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392477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Optimizing taxi assignments based on a comprehensive set of real-world variables.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2bdc81e5e59f433d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238869"/>
            <a:ext cx="36062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AI-Generated Ride Insights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572928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Providing users and administrators with deep analytics and ride explanations.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9cf9982ab191488f"/>
              </a:ext>
            </a:extLst>
          </a:blip>
          <a:stretch>
            <a:fillRect/>
          </a:stretch>
        </p:blipFill>
        <p:spPr>
          <a:xfrm>
            <a:off x="7456884" y="5104209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238869"/>
            <a:ext cx="34742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Role-Based Access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5729288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 data integrity and appropriate access for all stakeholders (Admin, Driver, User).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7102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 :</a:t>
            </a:r>
            <a:r>
              <a:rPr lang="en-US" sz="175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Smarter dispatch, enhanced transparency, and improved operational efficiency across the entire taxi ecosystem.</a:t>
            </a:r>
            <a:endParaRPr lang="en-US" sz="1750" dirty="0"/>
          </a:p>
        </p:txBody>
      </p:sp>
      <p:sp>
        <p:nvSpPr>
          <p:cNvPr id="17" name="Rectangle 16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234" y="3218084"/>
            <a:ext cx="708660" cy="70866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344" y="5095630"/>
            <a:ext cx="730056" cy="73005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07" y="5073696"/>
            <a:ext cx="655592" cy="65559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38" y="3231483"/>
            <a:ext cx="695261" cy="6952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5833"/>
            <a:ext cx="92073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Objectives: Driving Innovation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82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project is focused on delivering a transformative system that addresses critical pain points in traditional taxi services.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26293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726293"/>
            <a:ext cx="121920" cy="1367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524" y="2983587"/>
            <a:ext cx="35580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Optimize Taxi Assignment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474006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real-time, multi-factor analysis.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726293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726293"/>
            <a:ext cx="121920" cy="13679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7282" y="2983587"/>
            <a:ext cx="30760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 ETA Accuracy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77282" y="3474006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 advanced Machine Learning models.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4321016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321016"/>
            <a:ext cx="121920" cy="13679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2524" y="4578310"/>
            <a:ext cx="43303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Reduce Passenger Waiting Time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42524" y="5068729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Streamlining the dispatch process for quicker pickups.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428548" y="4321016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321016"/>
            <a:ext cx="121920" cy="136790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7282" y="4578310"/>
            <a:ext cx="36840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Provide Real-time Tracking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777282" y="506872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 transparency throughout the ride.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793790" y="5915739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5915739"/>
            <a:ext cx="121920" cy="136790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2524" y="6173033"/>
            <a:ext cx="33061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Offer AI-Based Analytics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1142524" y="6663452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Delivering insights and explanations for every journey.</a:t>
            </a:r>
            <a:endParaRPr lang="en-US" sz="1750" dirty="0"/>
          </a:p>
        </p:txBody>
      </p:sp>
      <p:sp>
        <p:nvSpPr>
          <p:cNvPr id="24" name="Shape 17"/>
          <p:cNvSpPr/>
          <p:nvPr/>
        </p:nvSpPr>
        <p:spPr>
          <a:xfrm>
            <a:off x="7428548" y="5915739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5915739"/>
            <a:ext cx="121920" cy="136790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7282" y="6173033"/>
            <a:ext cx="43273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Ensure Secure &amp; Scalable Design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7777282" y="666345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a robust and future-proof platform.</a:t>
            </a:r>
            <a:endParaRPr lang="en-US" sz="1750" dirty="0"/>
          </a:p>
        </p:txBody>
      </p:sp>
      <p:sp>
        <p:nvSpPr>
          <p:cNvPr id="28" name="Rectangle 27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767" y="478274"/>
            <a:ext cx="4384119" cy="543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Users &amp; Roles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8767" y="1369576"/>
            <a:ext cx="13412867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NeuroFleetX is designed with distinct roles and functionalities to cater to the specific needs of administrators, drivers, and passengers.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67" y="2039064"/>
            <a:ext cx="4188976" cy="418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767" y="6423660"/>
            <a:ext cx="217431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8767" y="6869192"/>
            <a:ext cx="4188976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users, drivers, and vehicles.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8767" y="7208282"/>
            <a:ext cx="4188976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Oversee ML model training and monitoring.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8767" y="7547372"/>
            <a:ext cx="4188976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system analytics and performance metrics.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701" y="2039064"/>
            <a:ext cx="4187547" cy="41875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9701" y="6422231"/>
            <a:ext cx="217431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Driver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229701" y="6867763"/>
            <a:ext cx="4187547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 or decline ride requests efficiently.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229701" y="7206853"/>
            <a:ext cx="4187547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assigned rides and monitor earnings.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207" y="2039064"/>
            <a:ext cx="4187547" cy="41875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49207" y="6422231"/>
            <a:ext cx="217431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9849207" y="6867763"/>
            <a:ext cx="4187547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Seamlessly request and track taxis in real-time.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9849207" y="7206853"/>
            <a:ext cx="4187547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ride history with AI-generated explanations.</a:t>
            </a:r>
            <a:endParaRPr lang="en-US" sz="1350" dirty="0"/>
          </a:p>
        </p:txBody>
      </p:sp>
      <p:sp>
        <p:nvSpPr>
          <p:cNvPr id="17" name="Rectangle 16"/>
          <p:cNvSpPr/>
          <p:nvPr/>
        </p:nvSpPr>
        <p:spPr>
          <a:xfrm>
            <a:off x="1213104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947" y="416481"/>
            <a:ext cx="8089344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Features: Enhancing the Ride Experience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9947" y="1192530"/>
            <a:ext cx="13570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NeuroFleetX boasts a comprehensive suite of features designed to elevate both operational efficiency and user satisfaction.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9947" y="1605082"/>
            <a:ext cx="605671" cy="908566"/>
          </a:xfrm>
          <a:prstGeom prst="roundRect">
            <a:avLst>
              <a:gd name="adj" fmla="val 360066"/>
            </a:avLst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719257" y="1917383"/>
            <a:ext cx="22705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86947" y="1756410"/>
            <a:ext cx="1992511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Authentication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6947" y="2083832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JWT-based authentication and role-based authorization.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9947" y="2664976"/>
            <a:ext cx="605671" cy="908566"/>
          </a:xfrm>
          <a:prstGeom prst="roundRect">
            <a:avLst>
              <a:gd name="adj" fmla="val 360066"/>
            </a:avLst>
          </a:prstGeom>
          <a:solidFill>
            <a:srgbClr val="E9ECF2"/>
          </a:solidFill>
          <a:ln/>
        </p:spPr>
      </p:sp>
      <p:sp>
        <p:nvSpPr>
          <p:cNvPr id="9" name="Text 7"/>
          <p:cNvSpPr/>
          <p:nvPr/>
        </p:nvSpPr>
        <p:spPr>
          <a:xfrm>
            <a:off x="719257" y="2977277"/>
            <a:ext cx="22705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86947" y="2816304"/>
            <a:ext cx="1892975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Intelligent Dispatch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6947" y="3143726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Multi-factor algorithm for optimal taxi assignment.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9947" y="3724870"/>
            <a:ext cx="605671" cy="908566"/>
          </a:xfrm>
          <a:prstGeom prst="roundRect">
            <a:avLst>
              <a:gd name="adj" fmla="val 360066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719257" y="4037171"/>
            <a:ext cx="22705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86947" y="3876199"/>
            <a:ext cx="1892975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Tracking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6947" y="4203621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WebSockets for live ride updates and location tracking.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9947" y="4784765"/>
            <a:ext cx="605671" cy="908566"/>
          </a:xfrm>
          <a:prstGeom prst="roundRect">
            <a:avLst>
              <a:gd name="adj" fmla="val 360066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719257" y="5097066"/>
            <a:ext cx="22705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86947" y="4936093"/>
            <a:ext cx="1892975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ML-based ETA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6947" y="5263515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 arrival time predictions powered by Machine Learning.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9947" y="5844659"/>
            <a:ext cx="605671" cy="908566"/>
          </a:xfrm>
          <a:prstGeom prst="roundRect">
            <a:avLst>
              <a:gd name="adj" fmla="val 360066"/>
            </a:avLst>
          </a:prstGeom>
          <a:solidFill>
            <a:srgbClr val="E9ECF2"/>
          </a:solidFill>
          <a:ln/>
        </p:spPr>
      </p:sp>
      <p:sp>
        <p:nvSpPr>
          <p:cNvPr id="21" name="Text 19"/>
          <p:cNvSpPr/>
          <p:nvPr/>
        </p:nvSpPr>
        <p:spPr>
          <a:xfrm>
            <a:off x="719257" y="6156960"/>
            <a:ext cx="22705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286947" y="5995988"/>
            <a:ext cx="1892975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Ride Explanations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6947" y="6323409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 integration for detailed ride history insights.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9947" y="6904553"/>
            <a:ext cx="605671" cy="908566"/>
          </a:xfrm>
          <a:prstGeom prst="roundRect">
            <a:avLst>
              <a:gd name="adj" fmla="val 360066"/>
            </a:avLst>
          </a:prstGeom>
          <a:solidFill>
            <a:srgbClr val="E9ECF2"/>
          </a:solidFill>
          <a:ln/>
        </p:spPr>
      </p:sp>
      <p:sp>
        <p:nvSpPr>
          <p:cNvPr id="25" name="Text 23"/>
          <p:cNvSpPr/>
          <p:nvPr/>
        </p:nvSpPr>
        <p:spPr>
          <a:xfrm>
            <a:off x="719257" y="7216854"/>
            <a:ext cx="227052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286947" y="7055882"/>
            <a:ext cx="1892975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 Analytics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286947" y="7383304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dashboard for system monitoring and insights.</a:t>
            </a:r>
            <a:endParaRPr lang="en-US" sz="1150" dirty="0"/>
          </a:p>
        </p:txBody>
      </p:sp>
      <p:sp>
        <p:nvSpPr>
          <p:cNvPr id="28" name="Rectangle 27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2947" y="888756"/>
            <a:ext cx="2097506" cy="209750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808" y="5995988"/>
            <a:ext cx="3686453" cy="216288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291" y="3164141"/>
            <a:ext cx="2381974" cy="136802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5155" y="4519275"/>
            <a:ext cx="2398108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578" y="337542"/>
            <a:ext cx="3661767" cy="38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Robust 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578" y="966668"/>
            <a:ext cx="13771245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chosen technologies provide a scalable, secure, and performant foundation for NeuroFleetX.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9578" y="1545481"/>
            <a:ext cx="1534597" cy="191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&amp; </a:t>
            </a:r>
            <a:r>
              <a:rPr lang="en-US" sz="2000" dirty="0" smtClean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</a:p>
          <a:p>
            <a:pPr marL="0" indent="0" algn="l">
              <a:lnSpc>
                <a:spcPts val="1500"/>
              </a:lnSpc>
              <a:buNone/>
            </a:pPr>
            <a:endParaRPr lang="en-US" sz="20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2000" dirty="0" smtClean="0">
              <a:solidFill>
                <a:srgbClr val="3257B8"/>
              </a:solidFill>
              <a:latin typeface="Roboto Slab" pitchFamily="34" charset="0"/>
              <a:ea typeface="Roboto Slab" pitchFamily="34" charset="-122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58457" y="1938474"/>
            <a:ext cx="6735961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Java 17, Spring Boot 3, Spring Security, Spring Data JPA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58456" y="2332804"/>
            <a:ext cx="6735961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PostgreSQL, Hibernate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58455" y="2761648"/>
            <a:ext cx="6735961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&amp; </a:t>
            </a: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SMILE ML (Random Forest), OpenAI API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58457" y="3150478"/>
            <a:ext cx="6735961" cy="30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8454" y="3520597"/>
            <a:ext cx="6735961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18, Vite, Tailwind CSS, Axios, Recharts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29598" y="4362005"/>
            <a:ext cx="1534597" cy="191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Deployment Strategy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58457" y="4818550"/>
            <a:ext cx="6735961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Containerization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ensures consistent environments from development to production.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8453" y="5235072"/>
            <a:ext cx="6735961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Orchestration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Compose simplifies the deployment and management of multi-container applications.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8457" y="5664099"/>
            <a:ext cx="6735961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setup enables seamless scaling and efficient resource management in a cloud-native environment.</a:t>
            </a:r>
            <a:endParaRPr lang="en-US" sz="1500" dirty="0"/>
          </a:p>
        </p:txBody>
      </p:sp>
      <p:sp>
        <p:nvSpPr>
          <p:cNvPr id="16" name="Rectangle 15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145" y="561062"/>
            <a:ext cx="2025015" cy="106476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0707" y="416768"/>
            <a:ext cx="2028825" cy="22574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3864" y="1485079"/>
            <a:ext cx="2695575" cy="16954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6844" y="2652857"/>
            <a:ext cx="2876550" cy="159067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3632" y="4192486"/>
            <a:ext cx="1552575" cy="294322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1930" y="5952030"/>
            <a:ext cx="3028950" cy="15144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4955" y="2783814"/>
            <a:ext cx="2529205" cy="123702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4131" y="4069946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504" y="472678"/>
            <a:ext cx="6190536" cy="53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 Overview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1504" y="1353503"/>
            <a:ext cx="1342739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NeuroFleetX is built on a layered, modular architecture, ensuring scalability, maintainability, and robust performance.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872" y="1972271"/>
            <a:ext cx="10961605" cy="5016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37100" y="2600728"/>
            <a:ext cx="2970254" cy="371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Repository Layer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437100" y="2945959"/>
            <a:ext cx="3273880" cy="594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persistence and access for services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58688" y="4620501"/>
            <a:ext cx="2970254" cy="371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Service Layer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3245" y="4986476"/>
            <a:ext cx="3009858" cy="594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logic; connects to ML and AI services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437100" y="5663390"/>
            <a:ext cx="2970254" cy="371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Controller Layer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933021" y="6032924"/>
            <a:ext cx="3273880" cy="594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REST APIs and WebSockets from Frontend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4102" y="7194975"/>
            <a:ext cx="1342739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Advantages:</a:t>
            </a: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design promotes a clear separation of concerns, facilitates independent development and deployment of services, and is inherently production-ready.</a:t>
            </a:r>
            <a:endParaRPr lang="en-US" sz="1350" dirty="0"/>
          </a:p>
        </p:txBody>
      </p:sp>
      <p:sp>
        <p:nvSpPr>
          <p:cNvPr id="12" name="Rectangle 11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305" y="688658"/>
            <a:ext cx="7423309" cy="645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Intelligent Dispatch Algorithm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3305" y="1747838"/>
            <a:ext cx="13183791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core dispatch algorithm goes beyond simple distance, dynamically scoring and assigning the optimal taxi for each ride request.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557" y="2310884"/>
            <a:ext cx="2175272" cy="15212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73818" y="3087053"/>
            <a:ext cx="290632" cy="36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313402" y="2910007"/>
            <a:ext cx="277689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Optimal Taxi Assigned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158383" y="3848338"/>
            <a:ext cx="8697158" cy="11430"/>
          </a:xfrm>
          <a:prstGeom prst="roundRect">
            <a:avLst>
              <a:gd name="adj" fmla="val 271236"/>
            </a:avLst>
          </a:prstGeom>
          <a:solidFill>
            <a:srgbClr val="CFD2D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921" y="3883700"/>
            <a:ext cx="4350544" cy="15212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73818" y="4462701"/>
            <a:ext cx="290632" cy="36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6401038" y="4482822"/>
            <a:ext cx="2099072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Dynamic Scoring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246019" y="5421154"/>
            <a:ext cx="7609523" cy="11430"/>
          </a:xfrm>
          <a:prstGeom prst="roundRect">
            <a:avLst>
              <a:gd name="adj" fmla="val 271236"/>
            </a:avLst>
          </a:prstGeom>
          <a:solidFill>
            <a:srgbClr val="CFD2D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66" y="5456515"/>
            <a:ext cx="6525935" cy="15212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73698" y="6035516"/>
            <a:ext cx="290632" cy="36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9"/>
          <p:cNvSpPr/>
          <p:nvPr/>
        </p:nvSpPr>
        <p:spPr>
          <a:xfrm>
            <a:off x="7488674" y="5663089"/>
            <a:ext cx="258341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Dispatch Factors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7488674" y="6109930"/>
            <a:ext cx="6211848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Distance, ML-predicted ETA, Traffic, Battery Level, Taxi Availability, Load.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23305" y="7210187"/>
            <a:ext cx="13183791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considering multiple real-time factors, we ensure the most efficient and timely taxi assignments, significantly improving service quality.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892" y="365998"/>
            <a:ext cx="5860613" cy="41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Machine Learning for ETA Prediction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892" y="1048107"/>
            <a:ext cx="13698617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heart of our predictive capabilities lies in a finely tuned Machine Learning model, ensuring highly accurate Estimated Times of Arrival.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9572" y="1543764"/>
            <a:ext cx="1663898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Algorithm &amp; Library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65892" y="1872872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Random Forest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5892" y="2206863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Library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SMILE 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5892" y="2511008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Purpose: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Accurately predict ETAs, adapting to dynamic conditions.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85102" y="1543764"/>
            <a:ext cx="1663898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Input Features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9230" y="1952778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 :</a:t>
            </a:r>
            <a:r>
              <a:rPr lang="en-US" sz="15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Haversine calculation for precise routing.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18677" y="2278861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Traffic Index: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Real-time congestion data.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18677" y="2587486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Weather Condition: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Impact of rain, snow, etc., on speed.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18677" y="2924899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of Day: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Accounting for peak and off-peak hours.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99230" y="3245831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Battery Level: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electric vehicles, influencing availability.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518677" y="3583404"/>
            <a:ext cx="66870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Speed: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Historical and real-time speed data.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181493" y="4466093"/>
            <a:ext cx="6687026" cy="1119545"/>
          </a:xfrm>
          <a:prstGeom prst="roundRect">
            <a:avLst>
              <a:gd name="adj" fmla="val 1783"/>
            </a:avLst>
          </a:prstGeom>
          <a:solidFill>
            <a:srgbClr val="C3CFE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102" y="4707105"/>
            <a:ext cx="207883" cy="1663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22155" y="4688175"/>
            <a:ext cx="1671995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Random Forest?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485102" y="5027835"/>
            <a:ext cx="6079808" cy="42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Chosen for its robustness, ability to handle non-linear data relationships, high accuracy, and resistance to overfitting, making it ideal for complex ETA predictions.</a:t>
            </a:r>
            <a:endParaRPr lang="en-US" sz="1000" dirty="0"/>
          </a:p>
        </p:txBody>
      </p:sp>
      <p:sp>
        <p:nvSpPr>
          <p:cNvPr id="20" name="Rectangle 19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" y="3245831"/>
            <a:ext cx="6143135" cy="40954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808" y="439222"/>
            <a:ext cx="9260681" cy="49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 Training Workflow: From Data to Deployment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08" y="1255990"/>
            <a:ext cx="478155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5268" y="1415296"/>
            <a:ext cx="2057876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Upload Ride Dataset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195268" y="1759863"/>
            <a:ext cx="12877324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Ingesting raw ride data, typically in CSV format, to serve as the foundation for model training.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85" y="2371606"/>
            <a:ext cx="478155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4346" y="2530912"/>
            <a:ext cx="3075146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Data Preprocessing &amp; Cleaning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434346" y="2875478"/>
            <a:ext cx="1263824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Transforming raw data into a usable format, handling missing values, and removing inconsistencies to ensure data quality.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963" y="3487222"/>
            <a:ext cx="478155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73423" y="3646527"/>
            <a:ext cx="2116812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Feature Engineering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673423" y="3991094"/>
            <a:ext cx="12399169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new predictive features from existing data to enhance model performance and capture complex patterns.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40" y="4602837"/>
            <a:ext cx="478155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12501" y="4762143"/>
            <a:ext cx="2388037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Train-Test Split (80-20)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912501" y="5106710"/>
            <a:ext cx="12160091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Dividing the dataset into training (80%) and testing (20%) sets to evaluate model generalization accurately.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963" y="5718453"/>
            <a:ext cx="478155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73423" y="5877758"/>
            <a:ext cx="2906554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 Model Training &amp; Evaluation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673423" y="6222325"/>
            <a:ext cx="12399169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Applying various ML algorithms and evaluating their performance using key metrics to select the optimal model.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85" y="6834068"/>
            <a:ext cx="478155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34346" y="6993374"/>
            <a:ext cx="2384108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6. Best Model Auto-Saved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1434346" y="7337941"/>
            <a:ext cx="1263824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top-performing model is automatically persisted, ready for integration into the dispatch system.</a:t>
            </a:r>
            <a:endParaRPr lang="en-US" sz="1250" dirty="0"/>
          </a:p>
        </p:txBody>
      </p:sp>
      <p:sp>
        <p:nvSpPr>
          <p:cNvPr id="21" name="Rectangle 20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889" y="736878"/>
            <a:ext cx="769334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Evaluation Metrics for ML Models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211729" y="2343150"/>
            <a:ext cx="7693343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machine learning models are rigorously evaluated using industry-standard metrics to ensure reliability and accuracy.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11729" y="3239452"/>
            <a:ext cx="3743087" cy="2520434"/>
          </a:xfrm>
          <a:prstGeom prst="roundRect">
            <a:avLst>
              <a:gd name="adj" fmla="val 1233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6418898" y="3446621"/>
            <a:ext cx="25905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R² Score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18898" y="3894773"/>
            <a:ext cx="3328749" cy="1657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Measures the proportion of variance in the dependent variable that can be predicted from the independent variables, indicating model fit.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1984" y="3239452"/>
            <a:ext cx="3743087" cy="2520434"/>
          </a:xfrm>
          <a:prstGeom prst="roundRect">
            <a:avLst>
              <a:gd name="adj" fmla="val 1233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10369153" y="3446621"/>
            <a:ext cx="25905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RMSE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369153" y="3894773"/>
            <a:ext cx="3328749" cy="1326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Mean Squared Error: Quantifies the average magnitude of the errors, giving higher weight to larger errors.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1729" y="5967055"/>
            <a:ext cx="7693343" cy="1525667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6418898" y="6174224"/>
            <a:ext cx="25905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18898" y="6622375"/>
            <a:ext cx="7279005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 Absolute Error: Calculates the average of the absolute differences between predictions and actual observations, representing prediction accuracy.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803" y="410766"/>
            <a:ext cx="4188023" cy="46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Robust Database Design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2803" y="1176337"/>
            <a:ext cx="1358479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well-structured database underpins the NeuroFleetX system, ensuring data consistency, integrity, and high performance.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03" y="1830765"/>
            <a:ext cx="74652" cy="746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6760" y="1751409"/>
            <a:ext cx="1867376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Users Table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46760" y="2134076"/>
            <a:ext cx="708362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administrator, driver, and user profiles and authentication details.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03" y="2751237"/>
            <a:ext cx="74652" cy="746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760" y="2671882"/>
            <a:ext cx="1867376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Taxi Table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46760" y="3054548"/>
            <a:ext cx="708362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comprehensive taxi and associated driver information, including vehicle status and location.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03" y="3671709"/>
            <a:ext cx="74652" cy="746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6760" y="3592354"/>
            <a:ext cx="1867376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RideRequest</a:t>
            </a: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Table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46760" y="3975021"/>
            <a:ext cx="708362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Tracks the complete lifecycle of each ride request, from initiation to completion, including status updates.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03" y="4592181"/>
            <a:ext cx="74652" cy="746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760" y="4512826"/>
            <a:ext cx="1867376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DeclinedRide Table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46760" y="4895493"/>
            <a:ext cx="708362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Records instances of declined ride requests for analysis and system optimization.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03" y="5512653"/>
            <a:ext cx="74652" cy="746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6760" y="5433298"/>
            <a:ext cx="1867376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ModelMetrics Table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746760" y="5815965"/>
            <a:ext cx="708362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performance metrics and evaluation results of all trained ML models.</a:t>
            </a:r>
            <a:endParaRPr lang="en-US" sz="15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9846" y="1751410"/>
            <a:ext cx="3915252" cy="391525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97455" y="6453723"/>
            <a:ext cx="13584793" cy="634722"/>
          </a:xfrm>
          <a:prstGeom prst="roundRect">
            <a:avLst>
              <a:gd name="adj" fmla="val 3531"/>
            </a:avLst>
          </a:prstGeom>
          <a:solidFill>
            <a:srgbClr val="C3CFEF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96" y="6661785"/>
            <a:ext cx="186690" cy="14930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79222" y="6603026"/>
            <a:ext cx="1295019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design prioritizes data integrity and scalability, supporting a high volume of transactions.</a:t>
            </a:r>
            <a:endParaRPr lang="en-US" sz="1500" dirty="0"/>
          </a:p>
        </p:txBody>
      </p:sp>
      <p:sp>
        <p:nvSpPr>
          <p:cNvPr id="23" name="Rectangle 22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830" y="748784"/>
            <a:ext cx="8463201" cy="658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Fortified Security Implementation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37830" y="1829157"/>
            <a:ext cx="13154739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is paramount. NeuroFleetX employs a multi-layered security approach to protect sensitive data and ensure system resilience.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7830" y="2403634"/>
            <a:ext cx="6471999" cy="1551861"/>
          </a:xfrm>
          <a:prstGeom prst="roundRect">
            <a:avLst>
              <a:gd name="adj" fmla="val 32604"/>
            </a:avLst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948571" y="2614374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JWT Authentication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48571" y="3070146"/>
            <a:ext cx="605051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Web Token-based secure authentication for all API interactions.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20570" y="2403634"/>
            <a:ext cx="6471999" cy="1551861"/>
          </a:xfrm>
          <a:prstGeom prst="roundRect">
            <a:avLst>
              <a:gd name="adj" fmla="val 32604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7631311" y="2614374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Role-Based Access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631311" y="3070146"/>
            <a:ext cx="605051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Granular access control (Admin, Driver, User) to define permissions.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37830" y="4166235"/>
            <a:ext cx="6471999" cy="1551861"/>
          </a:xfrm>
          <a:prstGeom prst="roundRect">
            <a:avLst>
              <a:gd name="adj" fmla="val 32604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48571" y="4376976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BCrypt Hashing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48571" y="4832747"/>
            <a:ext cx="605051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password hashing using BCrypt algorithm for maximum protection.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20570" y="4166235"/>
            <a:ext cx="6471999" cy="1551861"/>
          </a:xfrm>
          <a:prstGeom prst="roundRect">
            <a:avLst>
              <a:gd name="adj" fmla="val 32604"/>
            </a:avLst>
          </a:prstGeom>
          <a:solidFill>
            <a:srgbClr val="E9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7631311" y="4376976"/>
            <a:ext cx="2980373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CORS &amp; CSRF Protection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631311" y="4832747"/>
            <a:ext cx="605051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Cross-Origin Resource Sharing and Cross-Site Request Forgery protections enabled.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37830" y="5928836"/>
            <a:ext cx="6471999" cy="1551861"/>
          </a:xfrm>
          <a:prstGeom prst="roundRect">
            <a:avLst>
              <a:gd name="adj" fmla="val 32604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948571" y="6139577"/>
            <a:ext cx="307967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 Injection Prevention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948571" y="6595348"/>
            <a:ext cx="605051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Utilizing parameterized queries to safeguard against common database attacks.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20570" y="5928836"/>
            <a:ext cx="6471999" cy="1551861"/>
          </a:xfrm>
          <a:prstGeom prst="roundRect">
            <a:avLst>
              <a:gd name="adj" fmla="val 32604"/>
            </a:avLst>
          </a:prstGeom>
          <a:solidFill>
            <a:srgbClr val="E9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7631311" y="6139577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API Policies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7631311" y="6595348"/>
            <a:ext cx="605051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access policies for all API endpoints to prevent unauthorized usage.</a:t>
            </a:r>
            <a:endParaRPr lang="en-US" sz="1650" dirty="0"/>
          </a:p>
        </p:txBody>
      </p:sp>
      <p:sp>
        <p:nvSpPr>
          <p:cNvPr id="22" name="Rectangle 21"/>
          <p:cNvSpPr/>
          <p:nvPr/>
        </p:nvSpPr>
        <p:spPr>
          <a:xfrm>
            <a:off x="1213104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195" y="475417"/>
            <a:ext cx="6604159" cy="540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NeuroFleetX: Real-World Impact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95" y="1469469"/>
            <a:ext cx="5591731" cy="559173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680" y="1561267"/>
            <a:ext cx="86439" cy="864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92998" y="1469469"/>
            <a:ext cx="2367915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Superior ETA Accuracy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792998" y="1912382"/>
            <a:ext cx="6239828" cy="55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models provide precise arrival time estimates, enhancing user experience.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680" y="2903101"/>
            <a:ext cx="86439" cy="864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92998" y="2811304"/>
            <a:ext cx="285630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Intelligent Ride Assignment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792998" y="3254216"/>
            <a:ext cx="6239828" cy="55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and smarter matching of riders to drivers, optimizing routes and reducing wait times.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680" y="4244935"/>
            <a:ext cx="86439" cy="864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92998" y="4153138"/>
            <a:ext cx="28526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Enhanced Driver Utilization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7792998" y="4596051"/>
            <a:ext cx="623982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Maximizing the efficiency of the taxi fleet and driver network.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680" y="5310188"/>
            <a:ext cx="86439" cy="864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92998" y="5218390"/>
            <a:ext cx="247602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AI-Driven Transparency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7792998" y="5661303"/>
            <a:ext cx="623982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receive clear, AI-backed explanations for dispatch decisions, building trust.</a:t>
            </a:r>
            <a:endParaRPr lang="en-US" sz="13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680" y="6375440"/>
            <a:ext cx="86439" cy="8643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92998" y="6283643"/>
            <a:ext cx="2161342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Scalable &amp; Robust</a:t>
            </a:r>
            <a:endParaRPr lang="en-US" sz="1700" dirty="0"/>
          </a:p>
        </p:txBody>
      </p:sp>
      <p:sp>
        <p:nvSpPr>
          <p:cNvPr id="18" name="Text 10"/>
          <p:cNvSpPr/>
          <p:nvPr/>
        </p:nvSpPr>
        <p:spPr>
          <a:xfrm>
            <a:off x="7792998" y="6726555"/>
            <a:ext cx="6239828" cy="55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real-world deployment, handling high demand with ease and reliability.</a:t>
            </a:r>
            <a:endParaRPr lang="en-US" sz="1350" dirty="0"/>
          </a:p>
        </p:txBody>
      </p:sp>
      <p:sp>
        <p:nvSpPr>
          <p:cNvPr id="19" name="Rectangle 18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662" y="822008"/>
            <a:ext cx="13001268" cy="646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Horizons: Expanding NeuroFleetX Capabilities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3662" y="1881664"/>
            <a:ext cx="131830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roadmap includes exciting enhancements to further refine and expand the system's intelligence and user experience.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62" y="2445068"/>
            <a:ext cx="1033820" cy="12406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4174" y="2651760"/>
            <a:ext cx="2871430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Traffic &amp; Map APIs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964174" y="3098840"/>
            <a:ext cx="11942564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with Google Maps and other real-time APIs for dynamic routing and improved ETA predictions.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62" y="3685699"/>
            <a:ext cx="1033820" cy="12406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4174" y="3892391"/>
            <a:ext cx="3294698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Deep Learning ETA Models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964174" y="4339471"/>
            <a:ext cx="11942564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Implementing advanced deep learning techniques for even more sophisticated and accurate ETA estimations.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62" y="4926330"/>
            <a:ext cx="1033820" cy="12406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64174" y="5133023"/>
            <a:ext cx="3979307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Mobile Application Development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964174" y="5580102"/>
            <a:ext cx="11942564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native mobile apps (React Native) for seamless user and driver interaction.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62" y="6166961"/>
            <a:ext cx="1033820" cy="12406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64174" y="6373654"/>
            <a:ext cx="4446389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Surge Pricing &amp; Demand Forecasting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964174" y="6820733"/>
            <a:ext cx="11942564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Developing intelligent algorithms for dynamic pricing and proactive demand prediction to optimize revenue and service.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12120880" y="7630160"/>
            <a:ext cx="241808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879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3690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are confident that NeuroFleetX represents the future of smart urban transportation.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1526</Words>
  <Application>Microsoft Office PowerPoint</Application>
  <PresentationFormat>Custom</PresentationFormat>
  <Paragraphs>204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Roboto Slab</vt:lpstr>
      <vt:lpstr>Roboto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windows</dc:creator>
  <cp:lastModifiedBy>windows</cp:lastModifiedBy>
  <cp:revision>9</cp:revision>
  <dcterms:created xsi:type="dcterms:W3CDTF">2025-12-27T12:16:33Z</dcterms:created>
  <dcterms:modified xsi:type="dcterms:W3CDTF">2025-12-27T13:31:16Z</dcterms:modified>
</cp:coreProperties>
</file>