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rgbClr val="3A86FF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DFDFDF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rgbClr val="3A86FF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DFDFDF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rgbClr val="3A86FF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184830" y="0"/>
            <a:ext cx="7103745" cy="10287000"/>
          </a:xfrm>
          <a:custGeom>
            <a:avLst/>
            <a:gdLst/>
            <a:ahLst/>
            <a:cxnLst/>
            <a:rect l="l" t="t" r="r" b="b"/>
            <a:pathLst>
              <a:path w="7103744" h="10287000">
                <a:moveTo>
                  <a:pt x="0" y="10286999"/>
                </a:moveTo>
                <a:lnTo>
                  <a:pt x="7103168" y="10286999"/>
                </a:lnTo>
                <a:lnTo>
                  <a:pt x="7103168" y="0"/>
                </a:lnTo>
                <a:lnTo>
                  <a:pt x="0" y="0"/>
                </a:lnTo>
                <a:lnTo>
                  <a:pt x="0" y="10286999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11184890" cy="10287000"/>
          </a:xfrm>
          <a:custGeom>
            <a:avLst/>
            <a:gdLst/>
            <a:ahLst/>
            <a:cxnLst/>
            <a:rect l="l" t="t" r="r" b="b"/>
            <a:pathLst>
              <a:path w="11184890" h="10287000">
                <a:moveTo>
                  <a:pt x="11184830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1184830" y="0"/>
                </a:lnTo>
                <a:lnTo>
                  <a:pt x="11184830" y="10286999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68149" y="666749"/>
            <a:ext cx="5753099" cy="894427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rgbClr val="3A86FF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87525" y="1482788"/>
            <a:ext cx="8224520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rgbClr val="3A86FF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4049" y="2460656"/>
            <a:ext cx="10641965" cy="2094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DFDFDF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4049" y="9006268"/>
            <a:ext cx="6096000" cy="604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800" spc="-55">
                <a:solidFill>
                  <a:srgbClr val="DFDFDF"/>
                </a:solidFill>
                <a:latin typeface="Trebuchet MS"/>
                <a:cs typeface="Trebuchet MS"/>
              </a:rPr>
              <a:t>Presented</a:t>
            </a:r>
            <a:r>
              <a:rPr dirty="0" sz="3800" spc="-29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3800" spc="-65">
                <a:solidFill>
                  <a:srgbClr val="DFDFDF"/>
                </a:solidFill>
                <a:latin typeface="Trebuchet MS"/>
                <a:cs typeface="Trebuchet MS"/>
              </a:rPr>
              <a:t>by</a:t>
            </a:r>
            <a:r>
              <a:rPr dirty="0" sz="3800" spc="-28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3800" spc="-85">
                <a:solidFill>
                  <a:srgbClr val="DFDFDF"/>
                </a:solidFill>
                <a:latin typeface="Trebuchet MS"/>
                <a:cs typeface="Trebuchet MS"/>
              </a:rPr>
              <a:t>[Akhilesh</a:t>
            </a:r>
            <a:r>
              <a:rPr dirty="0" sz="3800" spc="-29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3800" spc="-10">
                <a:solidFill>
                  <a:srgbClr val="DFDFDF"/>
                </a:solidFill>
                <a:latin typeface="Trebuchet MS"/>
                <a:cs typeface="Trebuchet MS"/>
              </a:rPr>
              <a:t>singh]</a:t>
            </a:r>
            <a:endParaRPr sz="3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2679" y="586430"/>
            <a:ext cx="9251950" cy="6096000"/>
          </a:xfrm>
          <a:prstGeom prst="rect"/>
        </p:spPr>
        <p:txBody>
          <a:bodyPr wrap="square" lIns="0" tIns="396240" rIns="0" bIns="0" rtlCol="0" vert="horz">
            <a:spAutoFit/>
          </a:bodyPr>
          <a:lstStyle/>
          <a:p>
            <a:pPr marL="12700" marR="5080">
              <a:lnSpc>
                <a:spcPts val="14919"/>
              </a:lnSpc>
              <a:spcBef>
                <a:spcPts val="3120"/>
              </a:spcBef>
            </a:pPr>
            <a:r>
              <a:rPr dirty="0" sz="14950" spc="-1220">
                <a:solidFill>
                  <a:srgbClr val="DFDFDF"/>
                </a:solidFill>
              </a:rPr>
              <a:t>N</a:t>
            </a:r>
            <a:r>
              <a:rPr dirty="0" sz="14950" spc="-1225">
                <a:solidFill>
                  <a:srgbClr val="DFDFDF"/>
                </a:solidFill>
              </a:rPr>
              <a:t>e</a:t>
            </a:r>
            <a:r>
              <a:rPr dirty="0" sz="14950" spc="-1235">
                <a:solidFill>
                  <a:srgbClr val="DFDFDF"/>
                </a:solidFill>
              </a:rPr>
              <a:t>u</a:t>
            </a:r>
            <a:r>
              <a:rPr dirty="0" sz="14950" spc="-1220">
                <a:solidFill>
                  <a:srgbClr val="DFDFDF"/>
                </a:solidFill>
              </a:rPr>
              <a:t>ro</a:t>
            </a:r>
            <a:r>
              <a:rPr dirty="0" sz="14950" spc="-1225">
                <a:solidFill>
                  <a:srgbClr val="DFDFDF"/>
                </a:solidFill>
              </a:rPr>
              <a:t>F</a:t>
            </a:r>
            <a:r>
              <a:rPr dirty="0" sz="14950" spc="-1210">
                <a:solidFill>
                  <a:srgbClr val="DFDFDF"/>
                </a:solidFill>
              </a:rPr>
              <a:t>l</a:t>
            </a:r>
            <a:r>
              <a:rPr dirty="0" sz="14950" spc="-1225">
                <a:solidFill>
                  <a:srgbClr val="DFDFDF"/>
                </a:solidFill>
              </a:rPr>
              <a:t>eet</a:t>
            </a:r>
            <a:r>
              <a:rPr dirty="0" sz="14950" spc="-645">
                <a:solidFill>
                  <a:srgbClr val="DFDFDF"/>
                </a:solidFill>
              </a:rPr>
              <a:t>X</a:t>
            </a:r>
            <a:r>
              <a:rPr dirty="0" sz="14950" spc="-1175">
                <a:solidFill>
                  <a:srgbClr val="DFDFDF"/>
                </a:solidFill>
              </a:rPr>
              <a:t> </a:t>
            </a:r>
            <a:r>
              <a:rPr dirty="0" sz="14950" spc="-1210">
                <a:solidFill>
                  <a:srgbClr val="DFDFDF"/>
                </a:solidFill>
              </a:rPr>
              <a:t>T</a:t>
            </a:r>
            <a:r>
              <a:rPr dirty="0" sz="14950" spc="-1235">
                <a:solidFill>
                  <a:srgbClr val="DFDFDF"/>
                </a:solidFill>
              </a:rPr>
              <a:t>a</a:t>
            </a:r>
            <a:r>
              <a:rPr dirty="0" sz="14950" spc="-1250">
                <a:solidFill>
                  <a:srgbClr val="DFDFDF"/>
                </a:solidFill>
              </a:rPr>
              <a:t>x</a:t>
            </a:r>
            <a:r>
              <a:rPr dirty="0" sz="14950" spc="-645">
                <a:solidFill>
                  <a:srgbClr val="DFDFDF"/>
                </a:solidFill>
              </a:rPr>
              <a:t>i</a:t>
            </a:r>
            <a:r>
              <a:rPr dirty="0" sz="14950" spc="-1360">
                <a:solidFill>
                  <a:srgbClr val="DFDFDF"/>
                </a:solidFill>
              </a:rPr>
              <a:t> </a:t>
            </a:r>
            <a:r>
              <a:rPr dirty="0" sz="14950" spc="-1125">
                <a:solidFill>
                  <a:srgbClr val="DFDFDF"/>
                </a:solidFill>
              </a:rPr>
              <a:t>F</a:t>
            </a:r>
            <a:r>
              <a:rPr dirty="0" sz="14950" spc="-1110">
                <a:solidFill>
                  <a:srgbClr val="DFDFDF"/>
                </a:solidFill>
              </a:rPr>
              <a:t>l</a:t>
            </a:r>
            <a:r>
              <a:rPr dirty="0" sz="14950" spc="-1125">
                <a:solidFill>
                  <a:srgbClr val="DFDFDF"/>
                </a:solidFill>
              </a:rPr>
              <a:t>ee</a:t>
            </a:r>
            <a:r>
              <a:rPr dirty="0" sz="14950" spc="-545">
                <a:solidFill>
                  <a:srgbClr val="DFDFDF"/>
                </a:solidFill>
              </a:rPr>
              <a:t>t</a:t>
            </a:r>
            <a:r>
              <a:rPr dirty="0" sz="14950" spc="-1010">
                <a:solidFill>
                  <a:srgbClr val="DFDFDF"/>
                </a:solidFill>
              </a:rPr>
              <a:t> </a:t>
            </a:r>
            <a:r>
              <a:rPr dirty="0" sz="14950" spc="-1290">
                <a:solidFill>
                  <a:srgbClr val="DFDFDF"/>
                </a:solidFill>
              </a:rPr>
              <a:t>M</a:t>
            </a:r>
            <a:r>
              <a:rPr dirty="0" sz="14950" spc="-1315">
                <a:solidFill>
                  <a:srgbClr val="DFDFDF"/>
                </a:solidFill>
              </a:rPr>
              <a:t>ana</a:t>
            </a:r>
            <a:r>
              <a:rPr dirty="0" sz="14950" spc="-1300">
                <a:solidFill>
                  <a:srgbClr val="DFDFDF"/>
                </a:solidFill>
              </a:rPr>
              <a:t>g</a:t>
            </a:r>
            <a:r>
              <a:rPr dirty="0" sz="14950" spc="-1305">
                <a:solidFill>
                  <a:srgbClr val="DFDFDF"/>
                </a:solidFill>
              </a:rPr>
              <a:t>e</a:t>
            </a:r>
            <a:r>
              <a:rPr dirty="0" sz="14950" spc="-725">
                <a:solidFill>
                  <a:srgbClr val="DFDFDF"/>
                </a:solidFill>
              </a:rPr>
              <a:t>r</a:t>
            </a:r>
            <a:endParaRPr sz="1495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18222" y="7425564"/>
            <a:ext cx="2005025" cy="22505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7246600" y="9223437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DFDFDF"/>
                </a:solidFill>
                <a:latin typeface="Trebuchet MS"/>
                <a:cs typeface="Trebuchet MS"/>
              </a:rPr>
              <a:t>2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66750" y="666749"/>
            <a:ext cx="16954500" cy="8953500"/>
          </a:xfrm>
          <a:custGeom>
            <a:avLst/>
            <a:gdLst/>
            <a:ahLst/>
            <a:cxnLst/>
            <a:rect l="l" t="t" r="r" b="b"/>
            <a:pathLst>
              <a:path w="16954500" h="8953500">
                <a:moveTo>
                  <a:pt x="16525874" y="8953499"/>
                </a:moveTo>
                <a:lnTo>
                  <a:pt x="428624" y="8953499"/>
                </a:lnTo>
                <a:lnTo>
                  <a:pt x="381921" y="8950984"/>
                </a:lnTo>
                <a:lnTo>
                  <a:pt x="336674" y="8943613"/>
                </a:lnTo>
                <a:lnTo>
                  <a:pt x="293146" y="8931647"/>
                </a:lnTo>
                <a:lnTo>
                  <a:pt x="251597" y="8915349"/>
                </a:lnTo>
                <a:lnTo>
                  <a:pt x="212289" y="8894979"/>
                </a:lnTo>
                <a:lnTo>
                  <a:pt x="175484" y="8870799"/>
                </a:lnTo>
                <a:lnTo>
                  <a:pt x="141443" y="8843071"/>
                </a:lnTo>
                <a:lnTo>
                  <a:pt x="110428" y="8812055"/>
                </a:lnTo>
                <a:lnTo>
                  <a:pt x="82699" y="8778014"/>
                </a:lnTo>
                <a:lnTo>
                  <a:pt x="58519" y="8741209"/>
                </a:lnTo>
                <a:lnTo>
                  <a:pt x="38149" y="8701901"/>
                </a:lnTo>
                <a:lnTo>
                  <a:pt x="21851" y="8660353"/>
                </a:lnTo>
                <a:lnTo>
                  <a:pt x="9886" y="8616824"/>
                </a:lnTo>
                <a:lnTo>
                  <a:pt x="2515" y="8571577"/>
                </a:lnTo>
                <a:lnTo>
                  <a:pt x="0" y="8524874"/>
                </a:lnTo>
                <a:lnTo>
                  <a:pt x="0" y="428624"/>
                </a:lnTo>
                <a:lnTo>
                  <a:pt x="2515" y="381921"/>
                </a:lnTo>
                <a:lnTo>
                  <a:pt x="9886" y="336674"/>
                </a:lnTo>
                <a:lnTo>
                  <a:pt x="21851" y="293146"/>
                </a:lnTo>
                <a:lnTo>
                  <a:pt x="38149" y="251597"/>
                </a:lnTo>
                <a:lnTo>
                  <a:pt x="58519" y="212289"/>
                </a:lnTo>
                <a:lnTo>
                  <a:pt x="82699" y="175484"/>
                </a:lnTo>
                <a:lnTo>
                  <a:pt x="110428" y="141443"/>
                </a:lnTo>
                <a:lnTo>
                  <a:pt x="141443" y="110428"/>
                </a:lnTo>
                <a:lnTo>
                  <a:pt x="175484" y="82699"/>
                </a:lnTo>
                <a:lnTo>
                  <a:pt x="212289" y="58519"/>
                </a:lnTo>
                <a:lnTo>
                  <a:pt x="251597" y="38149"/>
                </a:lnTo>
                <a:lnTo>
                  <a:pt x="293146" y="21851"/>
                </a:lnTo>
                <a:lnTo>
                  <a:pt x="336674" y="9886"/>
                </a:lnTo>
                <a:lnTo>
                  <a:pt x="381921" y="2515"/>
                </a:lnTo>
                <a:lnTo>
                  <a:pt x="428624" y="0"/>
                </a:lnTo>
                <a:lnTo>
                  <a:pt x="16525874" y="0"/>
                </a:lnTo>
                <a:lnTo>
                  <a:pt x="16572577" y="2515"/>
                </a:lnTo>
                <a:lnTo>
                  <a:pt x="16617824" y="9886"/>
                </a:lnTo>
                <a:lnTo>
                  <a:pt x="16661352" y="21851"/>
                </a:lnTo>
                <a:lnTo>
                  <a:pt x="16702901" y="38149"/>
                </a:lnTo>
                <a:lnTo>
                  <a:pt x="16742209" y="58519"/>
                </a:lnTo>
                <a:lnTo>
                  <a:pt x="16779014" y="82699"/>
                </a:lnTo>
                <a:lnTo>
                  <a:pt x="16813055" y="110428"/>
                </a:lnTo>
                <a:lnTo>
                  <a:pt x="16844070" y="141443"/>
                </a:lnTo>
                <a:lnTo>
                  <a:pt x="16871799" y="175484"/>
                </a:lnTo>
                <a:lnTo>
                  <a:pt x="16895979" y="212289"/>
                </a:lnTo>
                <a:lnTo>
                  <a:pt x="16916349" y="251597"/>
                </a:lnTo>
                <a:lnTo>
                  <a:pt x="16932647" y="293146"/>
                </a:lnTo>
                <a:lnTo>
                  <a:pt x="16944612" y="336674"/>
                </a:lnTo>
                <a:lnTo>
                  <a:pt x="16951983" y="381921"/>
                </a:lnTo>
                <a:lnTo>
                  <a:pt x="16954499" y="428624"/>
                </a:lnTo>
                <a:lnTo>
                  <a:pt x="16954499" y="8524874"/>
                </a:lnTo>
                <a:lnTo>
                  <a:pt x="16951983" y="8571577"/>
                </a:lnTo>
                <a:lnTo>
                  <a:pt x="16944612" y="8616824"/>
                </a:lnTo>
                <a:lnTo>
                  <a:pt x="16932647" y="8660353"/>
                </a:lnTo>
                <a:lnTo>
                  <a:pt x="16916349" y="8701901"/>
                </a:lnTo>
                <a:lnTo>
                  <a:pt x="16895979" y="8741209"/>
                </a:lnTo>
                <a:lnTo>
                  <a:pt x="16871799" y="8778014"/>
                </a:lnTo>
                <a:lnTo>
                  <a:pt x="16844070" y="8812055"/>
                </a:lnTo>
                <a:lnTo>
                  <a:pt x="16813055" y="8843071"/>
                </a:lnTo>
                <a:lnTo>
                  <a:pt x="16779014" y="8870799"/>
                </a:lnTo>
                <a:lnTo>
                  <a:pt x="16742209" y="8894979"/>
                </a:lnTo>
                <a:lnTo>
                  <a:pt x="16702901" y="8915349"/>
                </a:lnTo>
                <a:lnTo>
                  <a:pt x="16661352" y="8931647"/>
                </a:lnTo>
                <a:lnTo>
                  <a:pt x="16617824" y="8943613"/>
                </a:lnTo>
                <a:lnTo>
                  <a:pt x="16572577" y="8950984"/>
                </a:lnTo>
                <a:lnTo>
                  <a:pt x="16525874" y="8953499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20">
                <a:solidFill>
                  <a:srgbClr val="DFDFDF"/>
                </a:solidFill>
              </a:rPr>
              <a:t>Dashboard</a:t>
            </a:r>
            <a:r>
              <a:rPr dirty="0" spc="-615">
                <a:solidFill>
                  <a:srgbClr val="DFDFDF"/>
                </a:solidFill>
              </a:rPr>
              <a:t> </a:t>
            </a:r>
            <a:r>
              <a:rPr dirty="0" spc="-575">
                <a:solidFill>
                  <a:srgbClr val="DFDFDF"/>
                </a:solidFill>
              </a:rPr>
              <a:t>Overview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787525" y="3213216"/>
            <a:ext cx="10019665" cy="1962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40">
                <a:solidFill>
                  <a:srgbClr val="DFDFDF"/>
                </a:solidFill>
                <a:latin typeface="Arial Black"/>
                <a:cs typeface="Arial Black"/>
              </a:rPr>
              <a:t>Central</a:t>
            </a:r>
            <a:r>
              <a:rPr dirty="0" sz="2500" spc="-200">
                <a:solidFill>
                  <a:srgbClr val="DFDFDF"/>
                </a:solidFill>
                <a:latin typeface="Arial Black"/>
                <a:cs typeface="Arial Black"/>
              </a:rPr>
              <a:t> </a:t>
            </a:r>
            <a:r>
              <a:rPr dirty="0" sz="2500" spc="-204">
                <a:solidFill>
                  <a:srgbClr val="DFDFDF"/>
                </a:solidFill>
                <a:latin typeface="Arial Black"/>
                <a:cs typeface="Arial Black"/>
              </a:rPr>
              <a:t>Control</a:t>
            </a:r>
            <a:r>
              <a:rPr dirty="0" sz="2500" spc="-200">
                <a:solidFill>
                  <a:srgbClr val="DFDFDF"/>
                </a:solidFill>
                <a:latin typeface="Arial Black"/>
                <a:cs typeface="Arial Black"/>
              </a:rPr>
              <a:t> </a:t>
            </a:r>
            <a:r>
              <a:rPr dirty="0" sz="2500" spc="-250">
                <a:solidFill>
                  <a:srgbClr val="DFDFDF"/>
                </a:solidFill>
                <a:latin typeface="Arial Black"/>
                <a:cs typeface="Arial Black"/>
              </a:rPr>
              <a:t>Panel</a:t>
            </a:r>
            <a:r>
              <a:rPr dirty="0" sz="2500" spc="-195">
                <a:solidFill>
                  <a:srgbClr val="DFDFDF"/>
                </a:solidFill>
                <a:latin typeface="Arial Black"/>
                <a:cs typeface="Arial Black"/>
              </a:rPr>
              <a:t> </a:t>
            </a:r>
            <a:r>
              <a:rPr dirty="0" sz="2500" spc="-190">
                <a:solidFill>
                  <a:srgbClr val="DFDFDF"/>
                </a:solidFill>
                <a:latin typeface="Arial Black"/>
                <a:cs typeface="Arial Black"/>
              </a:rPr>
              <a:t>for</a:t>
            </a:r>
            <a:r>
              <a:rPr dirty="0" sz="2500" spc="-200">
                <a:solidFill>
                  <a:srgbClr val="DFDFDF"/>
                </a:solidFill>
                <a:latin typeface="Arial Black"/>
                <a:cs typeface="Arial Black"/>
              </a:rPr>
              <a:t> </a:t>
            </a:r>
            <a:r>
              <a:rPr dirty="0" sz="2500" spc="-250">
                <a:solidFill>
                  <a:srgbClr val="DFDFDF"/>
                </a:solidFill>
                <a:latin typeface="Arial Black"/>
                <a:cs typeface="Arial Black"/>
              </a:rPr>
              <a:t>Fleet</a:t>
            </a:r>
            <a:r>
              <a:rPr dirty="0" sz="2500" spc="-200">
                <a:solidFill>
                  <a:srgbClr val="DFDFDF"/>
                </a:solidFill>
                <a:latin typeface="Arial Black"/>
                <a:cs typeface="Arial Black"/>
              </a:rPr>
              <a:t> </a:t>
            </a:r>
            <a:r>
              <a:rPr dirty="0" sz="2500" spc="-95">
                <a:solidFill>
                  <a:srgbClr val="DFDFDF"/>
                </a:solidFill>
                <a:latin typeface="Arial Black"/>
                <a:cs typeface="Arial Black"/>
              </a:rPr>
              <a:t>Operations</a:t>
            </a:r>
            <a:endParaRPr sz="2500">
              <a:latin typeface="Arial Black"/>
              <a:cs typeface="Arial Black"/>
            </a:endParaRPr>
          </a:p>
          <a:p>
            <a:pPr marL="12700" marR="5080">
              <a:lnSpc>
                <a:spcPct val="114999"/>
              </a:lnSpc>
              <a:spcBef>
                <a:spcPts val="1900"/>
              </a:spcBef>
            </a:pPr>
            <a:r>
              <a:rPr dirty="0" sz="2500">
                <a:solidFill>
                  <a:srgbClr val="DFDFDF"/>
                </a:solidFill>
                <a:latin typeface="Trebuchet MS"/>
                <a:cs typeface="Trebuchet MS"/>
              </a:rPr>
              <a:t>The</a:t>
            </a:r>
            <a:r>
              <a:rPr dirty="0" sz="2500" spc="-18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500" spc="-10">
                <a:solidFill>
                  <a:srgbClr val="DFDFDF"/>
                </a:solidFill>
                <a:latin typeface="Trebuchet MS"/>
                <a:cs typeface="Trebuchet MS"/>
              </a:rPr>
              <a:t>dashboard</a:t>
            </a:r>
            <a:r>
              <a:rPr dirty="0" sz="2500" spc="-18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DFDFDF"/>
                </a:solidFill>
                <a:latin typeface="Trebuchet MS"/>
                <a:cs typeface="Trebuchet MS"/>
              </a:rPr>
              <a:t>serves</a:t>
            </a:r>
            <a:r>
              <a:rPr dirty="0" sz="2500" spc="-17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500" spc="120">
                <a:solidFill>
                  <a:srgbClr val="DFDFDF"/>
                </a:solidFill>
                <a:latin typeface="Trebuchet MS"/>
                <a:cs typeface="Trebuchet MS"/>
              </a:rPr>
              <a:t>as</a:t>
            </a:r>
            <a:r>
              <a:rPr dirty="0" sz="2500" spc="-18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500" spc="50">
                <a:solidFill>
                  <a:srgbClr val="DFDFDF"/>
                </a:solidFill>
                <a:latin typeface="Trebuchet MS"/>
                <a:cs typeface="Trebuchet MS"/>
              </a:rPr>
              <a:t>a</a:t>
            </a:r>
            <a:r>
              <a:rPr dirty="0" sz="2500" spc="-18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500" spc="-254">
                <a:solidFill>
                  <a:srgbClr val="DFDFDF"/>
                </a:solidFill>
                <a:latin typeface="Arial Black"/>
                <a:cs typeface="Arial Black"/>
              </a:rPr>
              <a:t>central</a:t>
            </a:r>
            <a:r>
              <a:rPr dirty="0" sz="2500" spc="-190">
                <a:solidFill>
                  <a:srgbClr val="DFDFDF"/>
                </a:solidFill>
                <a:latin typeface="Arial Black"/>
                <a:cs typeface="Arial Black"/>
              </a:rPr>
              <a:t> </a:t>
            </a:r>
            <a:r>
              <a:rPr dirty="0" sz="2500" spc="-165">
                <a:solidFill>
                  <a:srgbClr val="DFDFDF"/>
                </a:solidFill>
                <a:latin typeface="Arial Black"/>
                <a:cs typeface="Arial Black"/>
              </a:rPr>
              <a:t>hub</a:t>
            </a:r>
            <a:r>
              <a:rPr dirty="0" sz="2500" spc="-260">
                <a:solidFill>
                  <a:srgbClr val="DFDFDF"/>
                </a:solidFill>
                <a:latin typeface="Arial Black"/>
                <a:cs typeface="Arial Black"/>
              </a:rPr>
              <a:t> </a:t>
            </a:r>
            <a:r>
              <a:rPr dirty="0" sz="2500" spc="-170">
                <a:solidFill>
                  <a:srgbClr val="DFDFDF"/>
                </a:solidFill>
                <a:latin typeface="Trebuchet MS"/>
                <a:cs typeface="Trebuchet MS"/>
              </a:rPr>
              <a:t>for</a:t>
            </a:r>
            <a:r>
              <a:rPr dirty="0" sz="2500" spc="-180">
                <a:solidFill>
                  <a:srgbClr val="DFDFDF"/>
                </a:solidFill>
                <a:latin typeface="Trebuchet MS"/>
                <a:cs typeface="Trebuchet MS"/>
              </a:rPr>
              <a:t> fleet</a:t>
            </a:r>
            <a:r>
              <a:rPr dirty="0" sz="2500" spc="-17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500" spc="-35">
                <a:solidFill>
                  <a:srgbClr val="DFDFDF"/>
                </a:solidFill>
                <a:latin typeface="Trebuchet MS"/>
                <a:cs typeface="Trebuchet MS"/>
              </a:rPr>
              <a:t>managers,</a:t>
            </a:r>
            <a:r>
              <a:rPr dirty="0" sz="2500" spc="-18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500" spc="-75">
                <a:solidFill>
                  <a:srgbClr val="DFDFDF"/>
                </a:solidFill>
                <a:latin typeface="Trebuchet MS"/>
                <a:cs typeface="Trebuchet MS"/>
              </a:rPr>
              <a:t>providing</a:t>
            </a:r>
            <a:r>
              <a:rPr dirty="0" sz="2500" spc="-18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500" spc="-10">
                <a:solidFill>
                  <a:srgbClr val="DFDFDF"/>
                </a:solidFill>
                <a:latin typeface="Trebuchet MS"/>
                <a:cs typeface="Trebuchet MS"/>
              </a:rPr>
              <a:t>real- </a:t>
            </a:r>
            <a:r>
              <a:rPr dirty="0" sz="2500" spc="-150">
                <a:solidFill>
                  <a:srgbClr val="DFDFDF"/>
                </a:solidFill>
                <a:latin typeface="Trebuchet MS"/>
                <a:cs typeface="Trebuchet MS"/>
              </a:rPr>
              <a:t>time</a:t>
            </a:r>
            <a:r>
              <a:rPr dirty="0" sz="2500" spc="-16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500" spc="-130">
                <a:solidFill>
                  <a:srgbClr val="DFDFDF"/>
                </a:solidFill>
                <a:latin typeface="Trebuchet MS"/>
                <a:cs typeface="Trebuchet MS"/>
              </a:rPr>
              <a:t>visibility</a:t>
            </a:r>
            <a:r>
              <a:rPr dirty="0" sz="2500" spc="-16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500" spc="-135">
                <a:solidFill>
                  <a:srgbClr val="DFDFDF"/>
                </a:solidFill>
                <a:latin typeface="Trebuchet MS"/>
                <a:cs typeface="Trebuchet MS"/>
              </a:rPr>
              <a:t>into</a:t>
            </a:r>
            <a:r>
              <a:rPr dirty="0" sz="2500" spc="-16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500" spc="-140">
                <a:solidFill>
                  <a:srgbClr val="DFDFDF"/>
                </a:solidFill>
                <a:latin typeface="Trebuchet MS"/>
                <a:cs typeface="Trebuchet MS"/>
              </a:rPr>
              <a:t>taxi</a:t>
            </a:r>
            <a:r>
              <a:rPr dirty="0" sz="2500" spc="-16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500" spc="-55">
                <a:solidFill>
                  <a:srgbClr val="DFDFDF"/>
                </a:solidFill>
                <a:latin typeface="Trebuchet MS"/>
                <a:cs typeface="Trebuchet MS"/>
              </a:rPr>
              <a:t>statuses,</a:t>
            </a:r>
            <a:r>
              <a:rPr dirty="0" sz="2500" spc="-16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500" spc="-120">
                <a:solidFill>
                  <a:srgbClr val="DFDFDF"/>
                </a:solidFill>
                <a:latin typeface="Trebuchet MS"/>
                <a:cs typeface="Trebuchet MS"/>
              </a:rPr>
              <a:t>metrics,</a:t>
            </a:r>
            <a:r>
              <a:rPr dirty="0" sz="2500" spc="-16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DFDFDF"/>
                </a:solidFill>
                <a:latin typeface="Trebuchet MS"/>
                <a:cs typeface="Trebuchet MS"/>
              </a:rPr>
              <a:t>and</a:t>
            </a:r>
            <a:r>
              <a:rPr dirty="0" sz="2500" spc="-16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500" spc="-100">
                <a:solidFill>
                  <a:srgbClr val="DFDFDF"/>
                </a:solidFill>
                <a:latin typeface="Trebuchet MS"/>
                <a:cs typeface="Trebuchet MS"/>
              </a:rPr>
              <a:t>performance,</a:t>
            </a:r>
            <a:r>
              <a:rPr dirty="0" sz="2500" spc="-16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500" spc="-45">
                <a:solidFill>
                  <a:srgbClr val="DFDFDF"/>
                </a:solidFill>
                <a:latin typeface="Trebuchet MS"/>
                <a:cs typeface="Trebuchet MS"/>
              </a:rPr>
              <a:t>facilitating </a:t>
            </a:r>
            <a:r>
              <a:rPr dirty="0" sz="2500" spc="-125">
                <a:solidFill>
                  <a:srgbClr val="DFDFDF"/>
                </a:solidFill>
                <a:latin typeface="Trebuchet MS"/>
                <a:cs typeface="Trebuchet MS"/>
              </a:rPr>
              <a:t>informed,</a:t>
            </a:r>
            <a:r>
              <a:rPr dirty="0" sz="2500" spc="-15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500" spc="-95">
                <a:solidFill>
                  <a:srgbClr val="DFDFDF"/>
                </a:solidFill>
                <a:latin typeface="Trebuchet MS"/>
                <a:cs typeface="Trebuchet MS"/>
              </a:rPr>
              <a:t>data-driven</a:t>
            </a:r>
            <a:r>
              <a:rPr dirty="0" sz="2500" spc="-15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500" spc="-50">
                <a:solidFill>
                  <a:srgbClr val="DFDFDF"/>
                </a:solidFill>
                <a:latin typeface="Trebuchet MS"/>
                <a:cs typeface="Trebuchet MS"/>
              </a:rPr>
              <a:t>decision-</a:t>
            </a:r>
            <a:r>
              <a:rPr dirty="0" sz="2500" spc="-35">
                <a:solidFill>
                  <a:srgbClr val="DFDFDF"/>
                </a:solidFill>
                <a:latin typeface="Trebuchet MS"/>
                <a:cs typeface="Trebuchet MS"/>
              </a:rPr>
              <a:t>making</a:t>
            </a:r>
            <a:r>
              <a:rPr dirty="0" sz="2500" spc="-15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500" spc="-170">
                <a:solidFill>
                  <a:srgbClr val="DFDFDF"/>
                </a:solidFill>
                <a:latin typeface="Trebuchet MS"/>
                <a:cs typeface="Trebuchet MS"/>
              </a:rPr>
              <a:t>for</a:t>
            </a:r>
            <a:r>
              <a:rPr dirty="0" sz="2500" spc="-15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500" spc="-120">
                <a:solidFill>
                  <a:srgbClr val="DFDFDF"/>
                </a:solidFill>
                <a:latin typeface="Trebuchet MS"/>
                <a:cs typeface="Trebuchet MS"/>
              </a:rPr>
              <a:t>optimal</a:t>
            </a:r>
            <a:r>
              <a:rPr dirty="0" sz="2500" spc="-15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500" spc="-180">
                <a:solidFill>
                  <a:srgbClr val="DFDFDF"/>
                </a:solidFill>
                <a:latin typeface="Trebuchet MS"/>
                <a:cs typeface="Trebuchet MS"/>
              </a:rPr>
              <a:t>fleet</a:t>
            </a:r>
            <a:r>
              <a:rPr dirty="0" sz="2500" spc="-15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500" spc="-10">
                <a:solidFill>
                  <a:srgbClr val="DFDFDF"/>
                </a:solidFill>
                <a:latin typeface="Trebuchet MS"/>
                <a:cs typeface="Trebuchet MS"/>
              </a:rPr>
              <a:t>management.</a:t>
            </a:r>
            <a:endParaRPr sz="2500">
              <a:latin typeface="Trebuchet MS"/>
              <a:cs typeface="Trebuchet MS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69953" y="7722196"/>
            <a:ext cx="2005025" cy="22505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7246600" y="9223437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DFDFDF"/>
                </a:solidFill>
                <a:latin typeface="Trebuchet MS"/>
                <a:cs typeface="Trebuchet MS"/>
              </a:rPr>
              <a:t>3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66750" y="666749"/>
            <a:ext cx="16954500" cy="8953500"/>
          </a:xfrm>
          <a:custGeom>
            <a:avLst/>
            <a:gdLst/>
            <a:ahLst/>
            <a:cxnLst/>
            <a:rect l="l" t="t" r="r" b="b"/>
            <a:pathLst>
              <a:path w="16954500" h="8953500">
                <a:moveTo>
                  <a:pt x="16525874" y="8953499"/>
                </a:moveTo>
                <a:lnTo>
                  <a:pt x="428624" y="8953499"/>
                </a:lnTo>
                <a:lnTo>
                  <a:pt x="381921" y="8950984"/>
                </a:lnTo>
                <a:lnTo>
                  <a:pt x="336674" y="8943613"/>
                </a:lnTo>
                <a:lnTo>
                  <a:pt x="293146" y="8931647"/>
                </a:lnTo>
                <a:lnTo>
                  <a:pt x="251597" y="8915349"/>
                </a:lnTo>
                <a:lnTo>
                  <a:pt x="212289" y="8894979"/>
                </a:lnTo>
                <a:lnTo>
                  <a:pt x="175484" y="8870799"/>
                </a:lnTo>
                <a:lnTo>
                  <a:pt x="141443" y="8843071"/>
                </a:lnTo>
                <a:lnTo>
                  <a:pt x="110428" y="8812055"/>
                </a:lnTo>
                <a:lnTo>
                  <a:pt x="82699" y="8778014"/>
                </a:lnTo>
                <a:lnTo>
                  <a:pt x="58519" y="8741209"/>
                </a:lnTo>
                <a:lnTo>
                  <a:pt x="38149" y="8701901"/>
                </a:lnTo>
                <a:lnTo>
                  <a:pt x="21851" y="8660353"/>
                </a:lnTo>
                <a:lnTo>
                  <a:pt x="9886" y="8616824"/>
                </a:lnTo>
                <a:lnTo>
                  <a:pt x="2515" y="8571577"/>
                </a:lnTo>
                <a:lnTo>
                  <a:pt x="0" y="8524874"/>
                </a:lnTo>
                <a:lnTo>
                  <a:pt x="0" y="428624"/>
                </a:lnTo>
                <a:lnTo>
                  <a:pt x="2515" y="381921"/>
                </a:lnTo>
                <a:lnTo>
                  <a:pt x="9886" y="336674"/>
                </a:lnTo>
                <a:lnTo>
                  <a:pt x="21851" y="293146"/>
                </a:lnTo>
                <a:lnTo>
                  <a:pt x="38149" y="251597"/>
                </a:lnTo>
                <a:lnTo>
                  <a:pt x="58519" y="212289"/>
                </a:lnTo>
                <a:lnTo>
                  <a:pt x="82699" y="175484"/>
                </a:lnTo>
                <a:lnTo>
                  <a:pt x="110428" y="141443"/>
                </a:lnTo>
                <a:lnTo>
                  <a:pt x="141443" y="110428"/>
                </a:lnTo>
                <a:lnTo>
                  <a:pt x="175484" y="82699"/>
                </a:lnTo>
                <a:lnTo>
                  <a:pt x="212289" y="58519"/>
                </a:lnTo>
                <a:lnTo>
                  <a:pt x="251597" y="38149"/>
                </a:lnTo>
                <a:lnTo>
                  <a:pt x="293146" y="21851"/>
                </a:lnTo>
                <a:lnTo>
                  <a:pt x="336674" y="9886"/>
                </a:lnTo>
                <a:lnTo>
                  <a:pt x="381921" y="2515"/>
                </a:lnTo>
                <a:lnTo>
                  <a:pt x="428624" y="0"/>
                </a:lnTo>
                <a:lnTo>
                  <a:pt x="16525874" y="0"/>
                </a:lnTo>
                <a:lnTo>
                  <a:pt x="16572577" y="2515"/>
                </a:lnTo>
                <a:lnTo>
                  <a:pt x="16617824" y="9886"/>
                </a:lnTo>
                <a:lnTo>
                  <a:pt x="16661352" y="21851"/>
                </a:lnTo>
                <a:lnTo>
                  <a:pt x="16702901" y="38149"/>
                </a:lnTo>
                <a:lnTo>
                  <a:pt x="16742209" y="58519"/>
                </a:lnTo>
                <a:lnTo>
                  <a:pt x="16779014" y="82699"/>
                </a:lnTo>
                <a:lnTo>
                  <a:pt x="16813055" y="110428"/>
                </a:lnTo>
                <a:lnTo>
                  <a:pt x="16844070" y="141443"/>
                </a:lnTo>
                <a:lnTo>
                  <a:pt x="16871799" y="175484"/>
                </a:lnTo>
                <a:lnTo>
                  <a:pt x="16895979" y="212289"/>
                </a:lnTo>
                <a:lnTo>
                  <a:pt x="16916349" y="251597"/>
                </a:lnTo>
                <a:lnTo>
                  <a:pt x="16932647" y="293146"/>
                </a:lnTo>
                <a:lnTo>
                  <a:pt x="16944612" y="336674"/>
                </a:lnTo>
                <a:lnTo>
                  <a:pt x="16951983" y="381921"/>
                </a:lnTo>
                <a:lnTo>
                  <a:pt x="16954499" y="428624"/>
                </a:lnTo>
                <a:lnTo>
                  <a:pt x="16954499" y="8524874"/>
                </a:lnTo>
                <a:lnTo>
                  <a:pt x="16951983" y="8571577"/>
                </a:lnTo>
                <a:lnTo>
                  <a:pt x="16944612" y="8616824"/>
                </a:lnTo>
                <a:lnTo>
                  <a:pt x="16932647" y="8660353"/>
                </a:lnTo>
                <a:lnTo>
                  <a:pt x="16916349" y="8701901"/>
                </a:lnTo>
                <a:lnTo>
                  <a:pt x="16895979" y="8741209"/>
                </a:lnTo>
                <a:lnTo>
                  <a:pt x="16871799" y="8778014"/>
                </a:lnTo>
                <a:lnTo>
                  <a:pt x="16844070" y="8812055"/>
                </a:lnTo>
                <a:lnTo>
                  <a:pt x="16813055" y="8843071"/>
                </a:lnTo>
                <a:lnTo>
                  <a:pt x="16779014" y="8870799"/>
                </a:lnTo>
                <a:lnTo>
                  <a:pt x="16742209" y="8894979"/>
                </a:lnTo>
                <a:lnTo>
                  <a:pt x="16702901" y="8915349"/>
                </a:lnTo>
                <a:lnTo>
                  <a:pt x="16661352" y="8931647"/>
                </a:lnTo>
                <a:lnTo>
                  <a:pt x="16617824" y="8943613"/>
                </a:lnTo>
                <a:lnTo>
                  <a:pt x="16572577" y="8950984"/>
                </a:lnTo>
                <a:lnTo>
                  <a:pt x="16525874" y="8953499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9"/>
              <a:t>Key</a:t>
            </a:r>
            <a:r>
              <a:rPr dirty="0" spc="-645"/>
              <a:t> </a:t>
            </a:r>
            <a:r>
              <a:rPr dirty="0" spc="-580"/>
              <a:t>Functionalities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787525" y="3213216"/>
            <a:ext cx="527494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25">
                <a:solidFill>
                  <a:srgbClr val="DFDFDF"/>
                </a:solidFill>
                <a:latin typeface="Arial Black"/>
                <a:cs typeface="Arial Black"/>
              </a:rPr>
              <a:t>Essential</a:t>
            </a:r>
            <a:r>
              <a:rPr dirty="0" sz="2500" spc="-204">
                <a:solidFill>
                  <a:srgbClr val="DFDFDF"/>
                </a:solidFill>
                <a:latin typeface="Arial Black"/>
                <a:cs typeface="Arial Black"/>
              </a:rPr>
              <a:t> </a:t>
            </a:r>
            <a:r>
              <a:rPr dirty="0" sz="2500" spc="-245">
                <a:solidFill>
                  <a:srgbClr val="DFDFDF"/>
                </a:solidFill>
                <a:latin typeface="Arial Black"/>
                <a:cs typeface="Arial Black"/>
              </a:rPr>
              <a:t>features</a:t>
            </a:r>
            <a:r>
              <a:rPr dirty="0" sz="2500" spc="-204">
                <a:solidFill>
                  <a:srgbClr val="DFDFDF"/>
                </a:solidFill>
                <a:latin typeface="Arial Black"/>
                <a:cs typeface="Arial Black"/>
              </a:rPr>
              <a:t> </a:t>
            </a:r>
            <a:r>
              <a:rPr dirty="0" sz="2500" spc="-170">
                <a:solidFill>
                  <a:srgbClr val="DFDFDF"/>
                </a:solidFill>
                <a:latin typeface="Arial Black"/>
                <a:cs typeface="Arial Black"/>
              </a:rPr>
              <a:t>of</a:t>
            </a:r>
            <a:r>
              <a:rPr dirty="0" sz="2500" spc="-204">
                <a:solidFill>
                  <a:srgbClr val="DFDFDF"/>
                </a:solidFill>
                <a:latin typeface="Arial Black"/>
                <a:cs typeface="Arial Black"/>
              </a:rPr>
              <a:t> </a:t>
            </a:r>
            <a:r>
              <a:rPr dirty="0" sz="2500" spc="-254">
                <a:solidFill>
                  <a:srgbClr val="DFDFDF"/>
                </a:solidFill>
                <a:latin typeface="Arial Black"/>
                <a:cs typeface="Arial Black"/>
              </a:rPr>
              <a:t>the</a:t>
            </a:r>
            <a:r>
              <a:rPr dirty="0" sz="2500" spc="-204">
                <a:solidFill>
                  <a:srgbClr val="DFDFDF"/>
                </a:solidFill>
                <a:latin typeface="Arial Black"/>
                <a:cs typeface="Arial Black"/>
              </a:rPr>
              <a:t> </a:t>
            </a:r>
            <a:r>
              <a:rPr dirty="0" sz="2500" spc="-165">
                <a:solidFill>
                  <a:srgbClr val="DFDFDF"/>
                </a:solidFill>
                <a:latin typeface="Arial Black"/>
                <a:cs typeface="Arial Black"/>
              </a:rPr>
              <a:t>dashboard</a:t>
            </a:r>
            <a:endParaRPr sz="2500">
              <a:latin typeface="Arial Black"/>
              <a:cs typeface="Arial Black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787525" y="5137181"/>
            <a:ext cx="327469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40">
                <a:solidFill>
                  <a:srgbClr val="DFDFDF"/>
                </a:solidFill>
                <a:latin typeface="Arial Black"/>
                <a:cs typeface="Arial Black"/>
              </a:rPr>
              <a:t>Dynamic</a:t>
            </a:r>
            <a:r>
              <a:rPr dirty="0" sz="2500" spc="-310">
                <a:solidFill>
                  <a:srgbClr val="DFDFDF"/>
                </a:solidFill>
                <a:latin typeface="Arial Black"/>
                <a:cs typeface="Arial Black"/>
              </a:rPr>
              <a:t> </a:t>
            </a:r>
            <a:r>
              <a:rPr dirty="0" sz="2500" spc="-210">
                <a:solidFill>
                  <a:srgbClr val="DFDFDF"/>
                </a:solidFill>
                <a:latin typeface="Arial Black"/>
                <a:cs typeface="Arial Black"/>
              </a:rPr>
              <a:t>Visualization</a:t>
            </a:r>
            <a:endParaRPr sz="2500">
              <a:latin typeface="Arial Black"/>
              <a:cs typeface="Arial Black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787525" y="5899136"/>
            <a:ext cx="4302125" cy="219710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2700" marR="5080">
              <a:lnSpc>
                <a:spcPct val="117500"/>
              </a:lnSpc>
              <a:spcBef>
                <a:spcPts val="280"/>
              </a:spcBef>
            </a:pPr>
            <a:r>
              <a:rPr dirty="0" sz="2000" spc="-10">
                <a:solidFill>
                  <a:srgbClr val="DFDFDF"/>
                </a:solidFill>
                <a:latin typeface="Trebuchet MS"/>
                <a:cs typeface="Trebuchet MS"/>
              </a:rPr>
              <a:t>The</a:t>
            </a:r>
            <a:r>
              <a:rPr dirty="0" sz="2000" spc="-13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DFDFDF"/>
                </a:solidFill>
                <a:latin typeface="Trebuchet MS"/>
                <a:cs typeface="Trebuchet MS"/>
              </a:rPr>
              <a:t>dashboard</a:t>
            </a:r>
            <a:r>
              <a:rPr dirty="0" sz="2000" spc="-13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85">
                <a:solidFill>
                  <a:srgbClr val="DFDFDF"/>
                </a:solidFill>
                <a:latin typeface="Trebuchet MS"/>
                <a:cs typeface="Trebuchet MS"/>
              </a:rPr>
              <a:t>offers</a:t>
            </a:r>
            <a:r>
              <a:rPr dirty="0" sz="2000" spc="-13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95">
                <a:solidFill>
                  <a:srgbClr val="DFDFDF"/>
                </a:solidFill>
                <a:latin typeface="Arial Black"/>
                <a:cs typeface="Arial Black"/>
              </a:rPr>
              <a:t>dynamic</a:t>
            </a:r>
            <a:r>
              <a:rPr dirty="0" sz="2000" spc="-150">
                <a:solidFill>
                  <a:srgbClr val="DFDFDF"/>
                </a:solidFill>
                <a:latin typeface="Arial Black"/>
                <a:cs typeface="Arial Black"/>
              </a:rPr>
              <a:t> </a:t>
            </a:r>
            <a:r>
              <a:rPr dirty="0" sz="2000" spc="-20">
                <a:solidFill>
                  <a:srgbClr val="DFDFDF"/>
                </a:solidFill>
                <a:latin typeface="Arial Black"/>
                <a:cs typeface="Arial Black"/>
              </a:rPr>
              <a:t>data </a:t>
            </a:r>
            <a:r>
              <a:rPr dirty="0" sz="2000" spc="-180">
                <a:solidFill>
                  <a:srgbClr val="DFDFDF"/>
                </a:solidFill>
                <a:latin typeface="Arial Black"/>
                <a:cs typeface="Arial Black"/>
              </a:rPr>
              <a:t>visualization</a:t>
            </a:r>
            <a:r>
              <a:rPr dirty="0" sz="2000" spc="-165">
                <a:solidFill>
                  <a:srgbClr val="DFDFDF"/>
                </a:solidFill>
                <a:latin typeface="Arial Black"/>
                <a:cs typeface="Arial Black"/>
              </a:rPr>
              <a:t> </a:t>
            </a:r>
            <a:r>
              <a:rPr dirty="0" sz="2000" spc="-65">
                <a:solidFill>
                  <a:srgbClr val="DFDFDF"/>
                </a:solidFill>
                <a:latin typeface="Trebuchet MS"/>
                <a:cs typeface="Trebuchet MS"/>
              </a:rPr>
              <a:t>through</a:t>
            </a:r>
            <a:r>
              <a:rPr dirty="0" sz="2000" spc="-10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DFDFDF"/>
                </a:solidFill>
                <a:latin typeface="Trebuchet MS"/>
                <a:cs typeface="Trebuchet MS"/>
              </a:rPr>
              <a:t>interactive </a:t>
            </a:r>
            <a:r>
              <a:rPr dirty="0" sz="2000">
                <a:solidFill>
                  <a:srgbClr val="DFDFDF"/>
                </a:solidFill>
                <a:latin typeface="Trebuchet MS"/>
                <a:cs typeface="Trebuchet MS"/>
              </a:rPr>
              <a:t>graphs</a:t>
            </a:r>
            <a:r>
              <a:rPr dirty="0" sz="2000" spc="-14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FDFDF"/>
                </a:solidFill>
                <a:latin typeface="Trebuchet MS"/>
                <a:cs typeface="Trebuchet MS"/>
              </a:rPr>
              <a:t>and</a:t>
            </a:r>
            <a:r>
              <a:rPr dirty="0" sz="2000" spc="-13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75">
                <a:solidFill>
                  <a:srgbClr val="DFDFDF"/>
                </a:solidFill>
                <a:latin typeface="Trebuchet MS"/>
                <a:cs typeface="Trebuchet MS"/>
              </a:rPr>
              <a:t>charts,</a:t>
            </a:r>
            <a:r>
              <a:rPr dirty="0" sz="2000" spc="-13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50">
                <a:solidFill>
                  <a:srgbClr val="DFDFDF"/>
                </a:solidFill>
                <a:latin typeface="Trebuchet MS"/>
                <a:cs typeface="Trebuchet MS"/>
              </a:rPr>
              <a:t>enabling</a:t>
            </a:r>
            <a:r>
              <a:rPr dirty="0" sz="2000" spc="-13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DFDFDF"/>
                </a:solidFill>
                <a:latin typeface="Trebuchet MS"/>
                <a:cs typeface="Trebuchet MS"/>
              </a:rPr>
              <a:t>fleet </a:t>
            </a:r>
            <a:r>
              <a:rPr dirty="0" sz="2000">
                <a:solidFill>
                  <a:srgbClr val="DFDFDF"/>
                </a:solidFill>
                <a:latin typeface="Trebuchet MS"/>
                <a:cs typeface="Trebuchet MS"/>
              </a:rPr>
              <a:t>managers</a:t>
            </a:r>
            <a:r>
              <a:rPr dirty="0" sz="2000" spc="-14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20">
                <a:solidFill>
                  <a:srgbClr val="DFDFDF"/>
                </a:solidFill>
                <a:latin typeface="Trebuchet MS"/>
                <a:cs typeface="Trebuchet MS"/>
              </a:rPr>
              <a:t>to</a:t>
            </a:r>
            <a:r>
              <a:rPr dirty="0" sz="2000" spc="-14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75">
                <a:solidFill>
                  <a:srgbClr val="DFDFDF"/>
                </a:solidFill>
                <a:latin typeface="Trebuchet MS"/>
                <a:cs typeface="Trebuchet MS"/>
              </a:rPr>
              <a:t>quickly</a:t>
            </a:r>
            <a:r>
              <a:rPr dirty="0" sz="2000" spc="-14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FDFDF"/>
                </a:solidFill>
                <a:latin typeface="Trebuchet MS"/>
                <a:cs typeface="Trebuchet MS"/>
              </a:rPr>
              <a:t>grasp</a:t>
            </a:r>
            <a:r>
              <a:rPr dirty="0" sz="2000" spc="-14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40">
                <a:solidFill>
                  <a:srgbClr val="DFDFDF"/>
                </a:solidFill>
                <a:latin typeface="Trebuchet MS"/>
                <a:cs typeface="Trebuchet MS"/>
              </a:rPr>
              <a:t>performance </a:t>
            </a:r>
            <a:r>
              <a:rPr dirty="0" sz="2000" spc="-80">
                <a:solidFill>
                  <a:srgbClr val="DFDFDF"/>
                </a:solidFill>
                <a:latin typeface="Trebuchet MS"/>
                <a:cs typeface="Trebuchet MS"/>
              </a:rPr>
              <a:t>metrics</a:t>
            </a:r>
            <a:r>
              <a:rPr dirty="0" sz="2000" spc="-14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FDFDF"/>
                </a:solidFill>
                <a:latin typeface="Trebuchet MS"/>
                <a:cs typeface="Trebuchet MS"/>
              </a:rPr>
              <a:t>and</a:t>
            </a:r>
            <a:r>
              <a:rPr dirty="0" sz="2000" spc="-14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60">
                <a:solidFill>
                  <a:srgbClr val="DFDFDF"/>
                </a:solidFill>
                <a:latin typeface="Trebuchet MS"/>
                <a:cs typeface="Trebuchet MS"/>
              </a:rPr>
              <a:t>trends</a:t>
            </a:r>
            <a:r>
              <a:rPr dirty="0" sz="2000" spc="-14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05">
                <a:solidFill>
                  <a:srgbClr val="DFDFDF"/>
                </a:solidFill>
                <a:latin typeface="Trebuchet MS"/>
                <a:cs typeface="Trebuchet MS"/>
              </a:rPr>
              <a:t>relevant</a:t>
            </a:r>
            <a:r>
              <a:rPr dirty="0" sz="2000" spc="-13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20">
                <a:solidFill>
                  <a:srgbClr val="DFDFDF"/>
                </a:solidFill>
                <a:latin typeface="Trebuchet MS"/>
                <a:cs typeface="Trebuchet MS"/>
              </a:rPr>
              <a:t>to</a:t>
            </a:r>
            <a:r>
              <a:rPr dirty="0" sz="2000" spc="-14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DFDFDF"/>
                </a:solidFill>
                <a:latin typeface="Trebuchet MS"/>
                <a:cs typeface="Trebuchet MS"/>
              </a:rPr>
              <a:t>their operations.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278687" y="5137181"/>
            <a:ext cx="286067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60">
                <a:solidFill>
                  <a:srgbClr val="DFDFDF"/>
                </a:solidFill>
                <a:latin typeface="Arial Black"/>
                <a:cs typeface="Arial Black"/>
              </a:rPr>
              <a:t>Interactive</a:t>
            </a:r>
            <a:r>
              <a:rPr dirty="0" sz="2500" spc="-340">
                <a:solidFill>
                  <a:srgbClr val="DFDFDF"/>
                </a:solidFill>
                <a:latin typeface="Arial Black"/>
                <a:cs typeface="Arial Black"/>
              </a:rPr>
              <a:t> </a:t>
            </a:r>
            <a:r>
              <a:rPr dirty="0" sz="2500" spc="-180">
                <a:solidFill>
                  <a:srgbClr val="DFDFDF"/>
                </a:solidFill>
                <a:latin typeface="Arial Black"/>
                <a:cs typeface="Arial Black"/>
              </a:rPr>
              <a:t>Widgets</a:t>
            </a:r>
            <a:endParaRPr sz="2500">
              <a:latin typeface="Arial Black"/>
              <a:cs typeface="Arial Black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278687" y="5899136"/>
            <a:ext cx="3884295" cy="184467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265"/>
              </a:spcBef>
            </a:pPr>
            <a:r>
              <a:rPr dirty="0" sz="2000" spc="50">
                <a:solidFill>
                  <a:srgbClr val="DFDFDF"/>
                </a:solidFill>
                <a:latin typeface="Trebuchet MS"/>
                <a:cs typeface="Trebuchet MS"/>
              </a:rPr>
              <a:t>Users</a:t>
            </a:r>
            <a:r>
              <a:rPr dirty="0" sz="2000" spc="-16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FDFDF"/>
                </a:solidFill>
                <a:latin typeface="Trebuchet MS"/>
                <a:cs typeface="Trebuchet MS"/>
              </a:rPr>
              <a:t>can</a:t>
            </a:r>
            <a:r>
              <a:rPr dirty="0" sz="2000" spc="-15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30">
                <a:solidFill>
                  <a:srgbClr val="DFDFDF"/>
                </a:solidFill>
                <a:latin typeface="Trebuchet MS"/>
                <a:cs typeface="Trebuchet MS"/>
              </a:rPr>
              <a:t>utilize</a:t>
            </a:r>
            <a:r>
              <a:rPr dirty="0" sz="2000" spc="-15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14">
                <a:solidFill>
                  <a:srgbClr val="DFDFDF"/>
                </a:solidFill>
                <a:latin typeface="Arial Black"/>
                <a:cs typeface="Arial Black"/>
              </a:rPr>
              <a:t>interactive </a:t>
            </a:r>
            <a:r>
              <a:rPr dirty="0" sz="2000" spc="-210">
                <a:solidFill>
                  <a:srgbClr val="DFDFDF"/>
                </a:solidFill>
                <a:latin typeface="Arial Black"/>
                <a:cs typeface="Arial Black"/>
              </a:rPr>
              <a:t>widgets</a:t>
            </a:r>
            <a:r>
              <a:rPr dirty="0" sz="2000" spc="-204">
                <a:solidFill>
                  <a:srgbClr val="DFDFDF"/>
                </a:solidFill>
                <a:latin typeface="Arial Black"/>
                <a:cs typeface="Arial Black"/>
              </a:rPr>
              <a:t> </a:t>
            </a:r>
            <a:r>
              <a:rPr dirty="0" sz="2000" spc="-140">
                <a:solidFill>
                  <a:srgbClr val="DFDFDF"/>
                </a:solidFill>
                <a:latin typeface="Trebuchet MS"/>
                <a:cs typeface="Trebuchet MS"/>
              </a:rPr>
              <a:t>that</a:t>
            </a:r>
            <a:r>
              <a:rPr dirty="0" sz="2000" spc="-13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95">
                <a:solidFill>
                  <a:srgbClr val="DFDFDF"/>
                </a:solidFill>
                <a:latin typeface="Trebuchet MS"/>
                <a:cs typeface="Trebuchet MS"/>
              </a:rPr>
              <a:t>allow</a:t>
            </a:r>
            <a:r>
              <a:rPr dirty="0" sz="2000" spc="-14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90">
                <a:solidFill>
                  <a:srgbClr val="DFDFDF"/>
                </a:solidFill>
                <a:latin typeface="Trebuchet MS"/>
                <a:cs typeface="Trebuchet MS"/>
              </a:rPr>
              <a:t>them</a:t>
            </a:r>
            <a:r>
              <a:rPr dirty="0" sz="2000" spc="-13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20">
                <a:solidFill>
                  <a:srgbClr val="DFDFDF"/>
                </a:solidFill>
                <a:latin typeface="Trebuchet MS"/>
                <a:cs typeface="Trebuchet MS"/>
              </a:rPr>
              <a:t>to</a:t>
            </a:r>
            <a:r>
              <a:rPr dirty="0" sz="2000" spc="-13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75">
                <a:solidFill>
                  <a:srgbClr val="DFDFDF"/>
                </a:solidFill>
                <a:latin typeface="Trebuchet MS"/>
                <a:cs typeface="Trebuchet MS"/>
              </a:rPr>
              <a:t>filter</a:t>
            </a:r>
            <a:r>
              <a:rPr dirty="0" sz="2000" spc="-14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DFDFDF"/>
                </a:solidFill>
                <a:latin typeface="Trebuchet MS"/>
                <a:cs typeface="Trebuchet MS"/>
              </a:rPr>
              <a:t>and </a:t>
            </a:r>
            <a:r>
              <a:rPr dirty="0" sz="2000" spc="-60">
                <a:solidFill>
                  <a:srgbClr val="DFDFDF"/>
                </a:solidFill>
                <a:latin typeface="Trebuchet MS"/>
                <a:cs typeface="Trebuchet MS"/>
              </a:rPr>
              <a:t>sort</a:t>
            </a:r>
            <a:r>
              <a:rPr dirty="0" sz="2000" spc="-15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90">
                <a:solidFill>
                  <a:srgbClr val="DFDFDF"/>
                </a:solidFill>
                <a:latin typeface="Trebuchet MS"/>
                <a:cs typeface="Trebuchet MS"/>
              </a:rPr>
              <a:t>ride</a:t>
            </a:r>
            <a:r>
              <a:rPr dirty="0" sz="2000" spc="-15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FDFDF"/>
                </a:solidFill>
                <a:latin typeface="Trebuchet MS"/>
                <a:cs typeface="Trebuchet MS"/>
              </a:rPr>
              <a:t>and</a:t>
            </a:r>
            <a:r>
              <a:rPr dirty="0" sz="2000" spc="-15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14">
                <a:solidFill>
                  <a:srgbClr val="DFDFDF"/>
                </a:solidFill>
                <a:latin typeface="Trebuchet MS"/>
                <a:cs typeface="Trebuchet MS"/>
              </a:rPr>
              <a:t>taxi</a:t>
            </a:r>
            <a:r>
              <a:rPr dirty="0" sz="2000" spc="-15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65">
                <a:solidFill>
                  <a:srgbClr val="DFDFDF"/>
                </a:solidFill>
                <a:latin typeface="Trebuchet MS"/>
                <a:cs typeface="Trebuchet MS"/>
              </a:rPr>
              <a:t>data</a:t>
            </a:r>
            <a:r>
              <a:rPr dirty="0" sz="2000" spc="-15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65">
                <a:solidFill>
                  <a:srgbClr val="DFDFDF"/>
                </a:solidFill>
                <a:latin typeface="Trebuchet MS"/>
                <a:cs typeface="Trebuchet MS"/>
              </a:rPr>
              <a:t>efficiently, </a:t>
            </a:r>
            <a:r>
              <a:rPr dirty="0" sz="2000" spc="-30">
                <a:solidFill>
                  <a:srgbClr val="DFDFDF"/>
                </a:solidFill>
                <a:latin typeface="Trebuchet MS"/>
                <a:cs typeface="Trebuchet MS"/>
              </a:rPr>
              <a:t>enhancing</a:t>
            </a:r>
            <a:r>
              <a:rPr dirty="0" sz="2000" spc="-130">
                <a:solidFill>
                  <a:srgbClr val="DFDFDF"/>
                </a:solidFill>
                <a:latin typeface="Trebuchet MS"/>
                <a:cs typeface="Trebuchet MS"/>
              </a:rPr>
              <a:t> their </a:t>
            </a:r>
            <a:r>
              <a:rPr dirty="0" sz="2000" spc="-125">
                <a:solidFill>
                  <a:srgbClr val="DFDFDF"/>
                </a:solidFill>
                <a:latin typeface="Trebuchet MS"/>
                <a:cs typeface="Trebuchet MS"/>
              </a:rPr>
              <a:t>ability</a:t>
            </a:r>
            <a:r>
              <a:rPr dirty="0" sz="2000" spc="-13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20">
                <a:solidFill>
                  <a:srgbClr val="DFDFDF"/>
                </a:solidFill>
                <a:latin typeface="Trebuchet MS"/>
                <a:cs typeface="Trebuchet MS"/>
              </a:rPr>
              <a:t>to</a:t>
            </a:r>
            <a:r>
              <a:rPr dirty="0" sz="2000" spc="-12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20">
                <a:solidFill>
                  <a:srgbClr val="DFDFDF"/>
                </a:solidFill>
                <a:latin typeface="Trebuchet MS"/>
                <a:cs typeface="Trebuchet MS"/>
              </a:rPr>
              <a:t>make </a:t>
            </a:r>
            <a:r>
              <a:rPr dirty="0" sz="2000" spc="-105">
                <a:solidFill>
                  <a:srgbClr val="DFDFDF"/>
                </a:solidFill>
                <a:latin typeface="Trebuchet MS"/>
                <a:cs typeface="Trebuchet MS"/>
              </a:rPr>
              <a:t>informed,</a:t>
            </a:r>
            <a:r>
              <a:rPr dirty="0" sz="2000" spc="-9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85">
                <a:solidFill>
                  <a:srgbClr val="DFDFDF"/>
                </a:solidFill>
                <a:latin typeface="Trebuchet MS"/>
                <a:cs typeface="Trebuchet MS"/>
              </a:rPr>
              <a:t>data-</a:t>
            </a:r>
            <a:r>
              <a:rPr dirty="0" sz="2000" spc="-80">
                <a:solidFill>
                  <a:srgbClr val="DFDFDF"/>
                </a:solidFill>
                <a:latin typeface="Trebuchet MS"/>
                <a:cs typeface="Trebuchet MS"/>
              </a:rPr>
              <a:t>driven</a:t>
            </a:r>
            <a:r>
              <a:rPr dirty="0" sz="2000" spc="-9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DFDFDF"/>
                </a:solidFill>
                <a:latin typeface="Trebuchet MS"/>
                <a:cs typeface="Trebuchet MS"/>
              </a:rPr>
              <a:t>decisions.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160249" y="5137181"/>
            <a:ext cx="279082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75">
                <a:solidFill>
                  <a:srgbClr val="DFDFDF"/>
                </a:solidFill>
                <a:latin typeface="Arial Black"/>
                <a:cs typeface="Arial Black"/>
              </a:rPr>
              <a:t>Real-</a:t>
            </a:r>
            <a:r>
              <a:rPr dirty="0" sz="2500" spc="-265">
                <a:solidFill>
                  <a:srgbClr val="DFDFDF"/>
                </a:solidFill>
                <a:latin typeface="Arial Black"/>
                <a:cs typeface="Arial Black"/>
              </a:rPr>
              <a:t>Time</a:t>
            </a:r>
            <a:r>
              <a:rPr dirty="0" sz="2500" spc="-220">
                <a:solidFill>
                  <a:srgbClr val="DFDFDF"/>
                </a:solidFill>
                <a:latin typeface="Arial Black"/>
                <a:cs typeface="Arial Black"/>
              </a:rPr>
              <a:t> Updates</a:t>
            </a:r>
            <a:endParaRPr sz="2500">
              <a:latin typeface="Arial Black"/>
              <a:cs typeface="Arial Black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2160249" y="5870561"/>
            <a:ext cx="3785870" cy="219710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2700" marR="5080">
              <a:lnSpc>
                <a:spcPct val="117500"/>
              </a:lnSpc>
              <a:spcBef>
                <a:spcPts val="280"/>
              </a:spcBef>
            </a:pPr>
            <a:r>
              <a:rPr dirty="0" sz="2000" spc="-75">
                <a:solidFill>
                  <a:srgbClr val="DFDFDF"/>
                </a:solidFill>
                <a:latin typeface="Trebuchet MS"/>
                <a:cs typeface="Trebuchet MS"/>
              </a:rPr>
              <a:t>With</a:t>
            </a:r>
            <a:r>
              <a:rPr dirty="0" sz="2000" spc="-12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05">
                <a:solidFill>
                  <a:srgbClr val="DFDFDF"/>
                </a:solidFill>
                <a:latin typeface="Trebuchet MS"/>
                <a:cs typeface="Trebuchet MS"/>
              </a:rPr>
              <a:t>real-</a:t>
            </a:r>
            <a:r>
              <a:rPr dirty="0" sz="2000" spc="-130">
                <a:solidFill>
                  <a:srgbClr val="DFDFDF"/>
                </a:solidFill>
                <a:latin typeface="Trebuchet MS"/>
                <a:cs typeface="Trebuchet MS"/>
              </a:rPr>
              <a:t>time</a:t>
            </a:r>
            <a:r>
              <a:rPr dirty="0" sz="2000" spc="-12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30">
                <a:solidFill>
                  <a:srgbClr val="DFDFDF"/>
                </a:solidFill>
                <a:latin typeface="Trebuchet MS"/>
                <a:cs typeface="Trebuchet MS"/>
              </a:rPr>
              <a:t>updates</a:t>
            </a:r>
            <a:r>
              <a:rPr dirty="0" sz="2000" spc="-12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60">
                <a:solidFill>
                  <a:srgbClr val="DFDFDF"/>
                </a:solidFill>
                <a:latin typeface="Trebuchet MS"/>
                <a:cs typeface="Trebuchet MS"/>
              </a:rPr>
              <a:t>powered</a:t>
            </a:r>
            <a:r>
              <a:rPr dirty="0" sz="2000" spc="-12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DFDFDF"/>
                </a:solidFill>
                <a:latin typeface="Trebuchet MS"/>
                <a:cs typeface="Trebuchet MS"/>
              </a:rPr>
              <a:t>by </a:t>
            </a:r>
            <a:r>
              <a:rPr dirty="0" sz="2000" spc="-190">
                <a:solidFill>
                  <a:srgbClr val="DFDFDF"/>
                </a:solidFill>
                <a:latin typeface="Arial Black"/>
                <a:cs typeface="Arial Black"/>
              </a:rPr>
              <a:t>Axios</a:t>
            </a:r>
            <a:r>
              <a:rPr dirty="0" sz="2000" spc="-190">
                <a:solidFill>
                  <a:srgbClr val="DFDFDF"/>
                </a:solidFill>
                <a:latin typeface="Trebuchet MS"/>
                <a:cs typeface="Trebuchet MS"/>
              </a:rPr>
              <a:t>,</a:t>
            </a:r>
            <a:r>
              <a:rPr dirty="0" sz="2000" spc="-13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00">
                <a:solidFill>
                  <a:srgbClr val="DFDFDF"/>
                </a:solidFill>
                <a:latin typeface="Trebuchet MS"/>
                <a:cs typeface="Trebuchet MS"/>
              </a:rPr>
              <a:t>the</a:t>
            </a:r>
            <a:r>
              <a:rPr dirty="0" sz="2000" spc="-13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DFDFDF"/>
                </a:solidFill>
                <a:latin typeface="Trebuchet MS"/>
                <a:cs typeface="Trebuchet MS"/>
              </a:rPr>
              <a:t>dashboard</a:t>
            </a:r>
            <a:r>
              <a:rPr dirty="0" sz="2000" spc="-13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FDFDF"/>
                </a:solidFill>
                <a:latin typeface="Trebuchet MS"/>
                <a:cs typeface="Trebuchet MS"/>
              </a:rPr>
              <a:t>ensures</a:t>
            </a:r>
            <a:r>
              <a:rPr dirty="0" sz="2000" spc="-13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65">
                <a:solidFill>
                  <a:srgbClr val="DFDFDF"/>
                </a:solidFill>
                <a:latin typeface="Trebuchet MS"/>
                <a:cs typeface="Trebuchet MS"/>
              </a:rPr>
              <a:t>that </a:t>
            </a:r>
            <a:r>
              <a:rPr dirty="0" sz="2000" spc="-145">
                <a:solidFill>
                  <a:srgbClr val="DFDFDF"/>
                </a:solidFill>
                <a:latin typeface="Trebuchet MS"/>
                <a:cs typeface="Trebuchet MS"/>
              </a:rPr>
              <a:t>fleet</a:t>
            </a:r>
            <a:r>
              <a:rPr dirty="0" sz="2000" spc="-15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FDFDF"/>
                </a:solidFill>
                <a:latin typeface="Trebuchet MS"/>
                <a:cs typeface="Trebuchet MS"/>
              </a:rPr>
              <a:t>managers</a:t>
            </a:r>
            <a:r>
              <a:rPr dirty="0" sz="2000" spc="-15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35">
                <a:solidFill>
                  <a:srgbClr val="DFDFDF"/>
                </a:solidFill>
                <a:latin typeface="Trebuchet MS"/>
                <a:cs typeface="Trebuchet MS"/>
              </a:rPr>
              <a:t>have</a:t>
            </a:r>
            <a:r>
              <a:rPr dirty="0" sz="2000" spc="-15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50">
                <a:solidFill>
                  <a:srgbClr val="DFDFDF"/>
                </a:solidFill>
                <a:latin typeface="Trebuchet MS"/>
                <a:cs typeface="Trebuchet MS"/>
              </a:rPr>
              <a:t>access</a:t>
            </a:r>
            <a:r>
              <a:rPr dirty="0" sz="2000" spc="-15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20">
                <a:solidFill>
                  <a:srgbClr val="DFDFDF"/>
                </a:solidFill>
                <a:latin typeface="Trebuchet MS"/>
                <a:cs typeface="Trebuchet MS"/>
              </a:rPr>
              <a:t>to</a:t>
            </a:r>
            <a:r>
              <a:rPr dirty="0" sz="2000" spc="-15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DFDFDF"/>
                </a:solidFill>
                <a:latin typeface="Trebuchet MS"/>
                <a:cs typeface="Trebuchet MS"/>
              </a:rPr>
              <a:t>the </a:t>
            </a:r>
            <a:r>
              <a:rPr dirty="0" sz="2000" spc="-100">
                <a:solidFill>
                  <a:srgbClr val="DFDFDF"/>
                </a:solidFill>
                <a:latin typeface="Trebuchet MS"/>
                <a:cs typeface="Trebuchet MS"/>
              </a:rPr>
              <a:t>latest</a:t>
            </a:r>
            <a:r>
              <a:rPr dirty="0" sz="2000" spc="-12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05">
                <a:solidFill>
                  <a:srgbClr val="DFDFDF"/>
                </a:solidFill>
                <a:latin typeface="Trebuchet MS"/>
                <a:cs typeface="Trebuchet MS"/>
              </a:rPr>
              <a:t>information</a:t>
            </a:r>
            <a:r>
              <a:rPr dirty="0" sz="2000" spc="-114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50">
                <a:solidFill>
                  <a:srgbClr val="DFDFDF"/>
                </a:solidFill>
                <a:latin typeface="Trebuchet MS"/>
                <a:cs typeface="Trebuchet MS"/>
              </a:rPr>
              <a:t>regarding</a:t>
            </a:r>
            <a:r>
              <a:rPr dirty="0" sz="2000" spc="-114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20">
                <a:solidFill>
                  <a:srgbClr val="DFDFDF"/>
                </a:solidFill>
                <a:latin typeface="Trebuchet MS"/>
                <a:cs typeface="Trebuchet MS"/>
              </a:rPr>
              <a:t>taxi statuses</a:t>
            </a:r>
            <a:r>
              <a:rPr dirty="0" sz="2000" spc="-13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FDFDF"/>
                </a:solidFill>
                <a:latin typeface="Trebuchet MS"/>
                <a:cs typeface="Trebuchet MS"/>
              </a:rPr>
              <a:t>and</a:t>
            </a:r>
            <a:r>
              <a:rPr dirty="0" sz="2000" spc="-12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80">
                <a:solidFill>
                  <a:srgbClr val="DFDFDF"/>
                </a:solidFill>
                <a:latin typeface="Trebuchet MS"/>
                <a:cs typeface="Trebuchet MS"/>
              </a:rPr>
              <a:t>operational</a:t>
            </a:r>
            <a:r>
              <a:rPr dirty="0" sz="2000" spc="-13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80">
                <a:solidFill>
                  <a:srgbClr val="DFDFDF"/>
                </a:solidFill>
                <a:latin typeface="Trebuchet MS"/>
                <a:cs typeface="Trebuchet MS"/>
              </a:rPr>
              <a:t>metrics</a:t>
            </a:r>
            <a:r>
              <a:rPr dirty="0" sz="2000" spc="-12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DFDFDF"/>
                </a:solidFill>
                <a:latin typeface="Trebuchet MS"/>
                <a:cs typeface="Trebuchet MS"/>
              </a:rPr>
              <a:t>at </a:t>
            </a:r>
            <a:r>
              <a:rPr dirty="0" sz="2000" spc="-120">
                <a:solidFill>
                  <a:srgbClr val="DFDFDF"/>
                </a:solidFill>
                <a:latin typeface="Trebuchet MS"/>
                <a:cs typeface="Trebuchet MS"/>
              </a:rPr>
              <a:t>all</a:t>
            </a:r>
            <a:r>
              <a:rPr dirty="0" sz="2000" spc="-15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DFDFDF"/>
                </a:solidFill>
                <a:latin typeface="Trebuchet MS"/>
                <a:cs typeface="Trebuchet MS"/>
              </a:rPr>
              <a:t>times.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69953" y="7722196"/>
            <a:ext cx="2005025" cy="22505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7259300" y="9251264"/>
            <a:ext cx="141605" cy="3022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280"/>
              </a:lnSpc>
            </a:pPr>
            <a:r>
              <a:rPr dirty="0" sz="2000">
                <a:solidFill>
                  <a:srgbClr val="DFDFDF"/>
                </a:solidFill>
                <a:latin typeface="Trebuchet MS"/>
                <a:cs typeface="Trebuchet MS"/>
              </a:rPr>
              <a:t>4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0" y="5143500"/>
            <a:ext cx="5448299" cy="44767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19850" y="5143500"/>
            <a:ext cx="5448299" cy="4476749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12172949" y="5143500"/>
            <a:ext cx="5702300" cy="4829810"/>
            <a:chOff x="12172949" y="5143500"/>
            <a:chExt cx="5702300" cy="482981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72949" y="5143500"/>
              <a:ext cx="5438551" cy="447674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869953" y="7722196"/>
              <a:ext cx="2005025" cy="225050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54049" y="593788"/>
            <a:ext cx="10503535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5"/>
              <a:t>Frontend</a:t>
            </a:r>
            <a:r>
              <a:rPr dirty="0" spc="-615"/>
              <a:t> </a:t>
            </a:r>
            <a:r>
              <a:rPr dirty="0" spc="-860"/>
              <a:t>T</a:t>
            </a:r>
            <a:r>
              <a:rPr dirty="0" spc="-610"/>
              <a:t>e</a:t>
            </a:r>
            <a:r>
              <a:rPr dirty="0" spc="-615"/>
              <a:t>c</a:t>
            </a:r>
            <a:r>
              <a:rPr dirty="0" spc="-620"/>
              <a:t>hn</a:t>
            </a:r>
            <a:r>
              <a:rPr dirty="0" spc="-610"/>
              <a:t>o</a:t>
            </a:r>
            <a:r>
              <a:rPr dirty="0" spc="-605"/>
              <a:t>l</a:t>
            </a:r>
            <a:r>
              <a:rPr dirty="0" spc="-610"/>
              <a:t>og</a:t>
            </a:r>
            <a:r>
              <a:rPr dirty="0" spc="-340"/>
              <a:t>y</a:t>
            </a:r>
            <a:r>
              <a:rPr dirty="0" spc="-610"/>
              <a:t> </a:t>
            </a:r>
            <a:r>
              <a:rPr dirty="0" spc="-560"/>
              <a:t>Stack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pc="-305"/>
              <a:t>Key</a:t>
            </a:r>
            <a:r>
              <a:rPr dirty="0" spc="-325"/>
              <a:t> </a:t>
            </a:r>
            <a:r>
              <a:rPr dirty="0" spc="-250"/>
              <a:t>Technologies</a:t>
            </a:r>
            <a:r>
              <a:rPr dirty="0" spc="-185"/>
              <a:t> </a:t>
            </a:r>
            <a:r>
              <a:rPr dirty="0" spc="-190"/>
              <a:t>for </a:t>
            </a:r>
            <a:r>
              <a:rPr dirty="0" spc="-204"/>
              <a:t>Dashboard</a:t>
            </a:r>
            <a:r>
              <a:rPr dirty="0" spc="-185"/>
              <a:t> </a:t>
            </a:r>
            <a:r>
              <a:rPr dirty="0" spc="-165"/>
              <a:t>Implementation</a:t>
            </a:r>
          </a:p>
          <a:p>
            <a:pPr algn="just" marL="12700" marR="5080">
              <a:lnSpc>
                <a:spcPct val="121300"/>
              </a:lnSpc>
              <a:spcBef>
                <a:spcPts val="2370"/>
              </a:spcBef>
            </a:pPr>
            <a:r>
              <a:rPr dirty="0" spc="-20">
                <a:latin typeface="Trebuchet MS"/>
                <a:cs typeface="Trebuchet MS"/>
              </a:rPr>
              <a:t>The</a:t>
            </a:r>
            <a:r>
              <a:rPr dirty="0" spc="-170">
                <a:latin typeface="Trebuchet MS"/>
                <a:cs typeface="Trebuchet MS"/>
              </a:rPr>
              <a:t> </a:t>
            </a:r>
            <a:r>
              <a:rPr dirty="0" spc="-10">
                <a:latin typeface="Trebuchet MS"/>
                <a:cs typeface="Trebuchet MS"/>
              </a:rPr>
              <a:t>dashboard</a:t>
            </a:r>
            <a:r>
              <a:rPr dirty="0" spc="-175">
                <a:latin typeface="Trebuchet MS"/>
                <a:cs typeface="Trebuchet MS"/>
              </a:rPr>
              <a:t> </a:t>
            </a:r>
            <a:r>
              <a:rPr dirty="0" spc="-50">
                <a:latin typeface="Trebuchet MS"/>
                <a:cs typeface="Trebuchet MS"/>
              </a:rPr>
              <a:t>leverages</a:t>
            </a:r>
            <a:r>
              <a:rPr dirty="0" spc="-140">
                <a:latin typeface="Trebuchet MS"/>
                <a:cs typeface="Trebuchet MS"/>
              </a:rPr>
              <a:t> </a:t>
            </a:r>
            <a:r>
              <a:rPr dirty="0" spc="-350"/>
              <a:t>React</a:t>
            </a:r>
            <a:r>
              <a:rPr dirty="0" spc="-350">
                <a:latin typeface="Trebuchet MS"/>
                <a:cs typeface="Trebuchet MS"/>
              </a:rPr>
              <a:t>,</a:t>
            </a:r>
            <a:r>
              <a:rPr dirty="0" spc="165">
                <a:latin typeface="Trebuchet MS"/>
                <a:cs typeface="Trebuchet MS"/>
              </a:rPr>
              <a:t> </a:t>
            </a:r>
            <a:r>
              <a:rPr dirty="0" spc="-355"/>
              <a:t>Vite</a:t>
            </a:r>
            <a:r>
              <a:rPr dirty="0" spc="-355">
                <a:latin typeface="Trebuchet MS"/>
                <a:cs typeface="Trebuchet MS"/>
              </a:rPr>
              <a:t>,</a:t>
            </a:r>
            <a:r>
              <a:rPr dirty="0" spc="165">
                <a:latin typeface="Trebuchet MS"/>
                <a:cs typeface="Trebuchet MS"/>
              </a:rPr>
              <a:t> </a:t>
            </a:r>
            <a:r>
              <a:rPr dirty="0" spc="-10">
                <a:latin typeface="Trebuchet MS"/>
                <a:cs typeface="Trebuchet MS"/>
              </a:rPr>
              <a:t>and</a:t>
            </a:r>
            <a:r>
              <a:rPr dirty="0" spc="-175">
                <a:latin typeface="Trebuchet MS"/>
                <a:cs typeface="Trebuchet MS"/>
              </a:rPr>
              <a:t> </a:t>
            </a:r>
            <a:r>
              <a:rPr dirty="0" spc="-325"/>
              <a:t>Tailwind</a:t>
            </a:r>
            <a:r>
              <a:rPr dirty="0" spc="114"/>
              <a:t> </a:t>
            </a:r>
            <a:r>
              <a:rPr dirty="0" spc="-295"/>
              <a:t>CSS</a:t>
            </a:r>
            <a:r>
              <a:rPr dirty="0" spc="85"/>
              <a:t> </a:t>
            </a:r>
            <a:r>
              <a:rPr dirty="0" spc="-265">
                <a:latin typeface="Trebuchet MS"/>
                <a:cs typeface="Trebuchet MS"/>
              </a:rPr>
              <a:t>for</a:t>
            </a:r>
            <a:r>
              <a:rPr dirty="0" spc="75">
                <a:latin typeface="Trebuchet MS"/>
                <a:cs typeface="Trebuchet MS"/>
              </a:rPr>
              <a:t> </a:t>
            </a:r>
            <a:r>
              <a:rPr dirty="0" spc="20">
                <a:latin typeface="Trebuchet MS"/>
                <a:cs typeface="Trebuchet MS"/>
              </a:rPr>
              <a:t>a</a:t>
            </a:r>
            <a:r>
              <a:rPr dirty="0" spc="-125">
                <a:latin typeface="Trebuchet MS"/>
                <a:cs typeface="Trebuchet MS"/>
              </a:rPr>
              <a:t> </a:t>
            </a:r>
            <a:r>
              <a:rPr dirty="0" spc="-30">
                <a:latin typeface="Trebuchet MS"/>
                <a:cs typeface="Trebuchet MS"/>
              </a:rPr>
              <a:t>responsive</a:t>
            </a:r>
            <a:r>
              <a:rPr dirty="0" spc="-10">
                <a:latin typeface="Trebuchet MS"/>
                <a:cs typeface="Trebuchet MS"/>
              </a:rPr>
              <a:t> </a:t>
            </a:r>
            <a:r>
              <a:rPr dirty="0" spc="-25">
                <a:latin typeface="Trebuchet MS"/>
                <a:cs typeface="Trebuchet MS"/>
              </a:rPr>
              <a:t>and </a:t>
            </a:r>
            <a:r>
              <a:rPr dirty="0" spc="-180">
                <a:latin typeface="Trebuchet MS"/>
                <a:cs typeface="Trebuchet MS"/>
              </a:rPr>
              <a:t>efficient</a:t>
            </a:r>
            <a:r>
              <a:rPr dirty="0" spc="-10">
                <a:latin typeface="Trebuchet MS"/>
                <a:cs typeface="Trebuchet MS"/>
              </a:rPr>
              <a:t> </a:t>
            </a:r>
            <a:r>
              <a:rPr dirty="0" spc="-25">
                <a:latin typeface="Trebuchet MS"/>
                <a:cs typeface="Trebuchet MS"/>
              </a:rPr>
              <a:t>user</a:t>
            </a:r>
            <a:r>
              <a:rPr dirty="0" spc="-160">
                <a:latin typeface="Trebuchet MS"/>
                <a:cs typeface="Trebuchet MS"/>
              </a:rPr>
              <a:t> </a:t>
            </a:r>
            <a:r>
              <a:rPr dirty="0" spc="-75">
                <a:latin typeface="Trebuchet MS"/>
                <a:cs typeface="Trebuchet MS"/>
              </a:rPr>
              <a:t>experience</a:t>
            </a:r>
            <a:r>
              <a:rPr dirty="0" spc="-55">
                <a:latin typeface="Trebuchet MS"/>
                <a:cs typeface="Trebuchet MS"/>
              </a:rPr>
              <a:t> </a:t>
            </a:r>
            <a:r>
              <a:rPr dirty="0" spc="-145">
                <a:latin typeface="Trebuchet MS"/>
                <a:cs typeface="Trebuchet MS"/>
              </a:rPr>
              <a:t>while</a:t>
            </a:r>
            <a:r>
              <a:rPr dirty="0">
                <a:latin typeface="Trebuchet MS"/>
                <a:cs typeface="Trebuchet MS"/>
              </a:rPr>
              <a:t> </a:t>
            </a:r>
            <a:r>
              <a:rPr dirty="0" spc="-150">
                <a:latin typeface="Trebuchet MS"/>
                <a:cs typeface="Trebuchet MS"/>
              </a:rPr>
              <a:t>utilizing</a:t>
            </a:r>
            <a:r>
              <a:rPr dirty="0" spc="5">
                <a:latin typeface="Trebuchet MS"/>
                <a:cs typeface="Trebuchet MS"/>
              </a:rPr>
              <a:t> </a:t>
            </a:r>
            <a:r>
              <a:rPr dirty="0" spc="-290"/>
              <a:t>Axios</a:t>
            </a:r>
            <a:r>
              <a:rPr dirty="0" spc="80"/>
              <a:t> </a:t>
            </a:r>
            <a:r>
              <a:rPr dirty="0" spc="-265">
                <a:latin typeface="Trebuchet MS"/>
                <a:cs typeface="Trebuchet MS"/>
              </a:rPr>
              <a:t>for</a:t>
            </a:r>
            <a:r>
              <a:rPr dirty="0" spc="75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seamless</a:t>
            </a:r>
            <a:r>
              <a:rPr dirty="0" spc="5">
                <a:latin typeface="Trebuchet MS"/>
                <a:cs typeface="Trebuchet MS"/>
              </a:rPr>
              <a:t> </a:t>
            </a:r>
            <a:r>
              <a:rPr dirty="0" spc="-114">
                <a:latin typeface="Trebuchet MS"/>
                <a:cs typeface="Trebuchet MS"/>
              </a:rPr>
              <a:t>data</a:t>
            </a:r>
            <a:r>
              <a:rPr dirty="0">
                <a:latin typeface="Trebuchet MS"/>
                <a:cs typeface="Trebuchet MS"/>
              </a:rPr>
              <a:t> </a:t>
            </a:r>
            <a:r>
              <a:rPr dirty="0" spc="-130">
                <a:latin typeface="Trebuchet MS"/>
                <a:cs typeface="Trebuchet MS"/>
              </a:rPr>
              <a:t>integration</a:t>
            </a:r>
            <a:r>
              <a:rPr dirty="0" spc="5">
                <a:latin typeface="Trebuchet MS"/>
                <a:cs typeface="Trebuchet MS"/>
              </a:rPr>
              <a:t> </a:t>
            </a:r>
            <a:r>
              <a:rPr dirty="0" spc="-30">
                <a:latin typeface="Trebuchet MS"/>
                <a:cs typeface="Trebuchet MS"/>
              </a:rPr>
              <a:t>with backend</a:t>
            </a:r>
            <a:r>
              <a:rPr dirty="0" spc="-165">
                <a:latin typeface="Trebuchet MS"/>
                <a:cs typeface="Trebuchet MS"/>
              </a:rPr>
              <a:t> </a:t>
            </a:r>
            <a:r>
              <a:rPr dirty="0" spc="-10">
                <a:latin typeface="Trebuchet MS"/>
                <a:cs typeface="Trebuchet MS"/>
              </a:rPr>
              <a:t>APIs.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7246600" y="9223437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DFDFDF"/>
                </a:solidFill>
                <a:latin typeface="Trebuchet MS"/>
                <a:cs typeface="Trebuchet MS"/>
              </a:rPr>
              <a:t>5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66750" y="666749"/>
            <a:ext cx="16954500" cy="8953500"/>
          </a:xfrm>
          <a:custGeom>
            <a:avLst/>
            <a:gdLst/>
            <a:ahLst/>
            <a:cxnLst/>
            <a:rect l="l" t="t" r="r" b="b"/>
            <a:pathLst>
              <a:path w="16954500" h="8953500">
                <a:moveTo>
                  <a:pt x="16525874" y="8953499"/>
                </a:moveTo>
                <a:lnTo>
                  <a:pt x="428624" y="8953499"/>
                </a:lnTo>
                <a:lnTo>
                  <a:pt x="381921" y="8950984"/>
                </a:lnTo>
                <a:lnTo>
                  <a:pt x="336674" y="8943613"/>
                </a:lnTo>
                <a:lnTo>
                  <a:pt x="293146" y="8931647"/>
                </a:lnTo>
                <a:lnTo>
                  <a:pt x="251597" y="8915349"/>
                </a:lnTo>
                <a:lnTo>
                  <a:pt x="212289" y="8894979"/>
                </a:lnTo>
                <a:lnTo>
                  <a:pt x="175484" y="8870799"/>
                </a:lnTo>
                <a:lnTo>
                  <a:pt x="141443" y="8843071"/>
                </a:lnTo>
                <a:lnTo>
                  <a:pt x="110428" y="8812055"/>
                </a:lnTo>
                <a:lnTo>
                  <a:pt x="82699" y="8778014"/>
                </a:lnTo>
                <a:lnTo>
                  <a:pt x="58519" y="8741209"/>
                </a:lnTo>
                <a:lnTo>
                  <a:pt x="38149" y="8701901"/>
                </a:lnTo>
                <a:lnTo>
                  <a:pt x="21851" y="8660353"/>
                </a:lnTo>
                <a:lnTo>
                  <a:pt x="9886" y="8616824"/>
                </a:lnTo>
                <a:lnTo>
                  <a:pt x="2515" y="8571577"/>
                </a:lnTo>
                <a:lnTo>
                  <a:pt x="0" y="8524874"/>
                </a:lnTo>
                <a:lnTo>
                  <a:pt x="0" y="428624"/>
                </a:lnTo>
                <a:lnTo>
                  <a:pt x="2515" y="381921"/>
                </a:lnTo>
                <a:lnTo>
                  <a:pt x="9886" y="336674"/>
                </a:lnTo>
                <a:lnTo>
                  <a:pt x="21851" y="293146"/>
                </a:lnTo>
                <a:lnTo>
                  <a:pt x="38149" y="251597"/>
                </a:lnTo>
                <a:lnTo>
                  <a:pt x="58519" y="212289"/>
                </a:lnTo>
                <a:lnTo>
                  <a:pt x="82699" y="175484"/>
                </a:lnTo>
                <a:lnTo>
                  <a:pt x="110428" y="141443"/>
                </a:lnTo>
                <a:lnTo>
                  <a:pt x="141443" y="110428"/>
                </a:lnTo>
                <a:lnTo>
                  <a:pt x="175484" y="82699"/>
                </a:lnTo>
                <a:lnTo>
                  <a:pt x="212289" y="58519"/>
                </a:lnTo>
                <a:lnTo>
                  <a:pt x="251597" y="38149"/>
                </a:lnTo>
                <a:lnTo>
                  <a:pt x="293146" y="21851"/>
                </a:lnTo>
                <a:lnTo>
                  <a:pt x="336674" y="9886"/>
                </a:lnTo>
                <a:lnTo>
                  <a:pt x="381921" y="2515"/>
                </a:lnTo>
                <a:lnTo>
                  <a:pt x="428624" y="0"/>
                </a:lnTo>
                <a:lnTo>
                  <a:pt x="16525874" y="0"/>
                </a:lnTo>
                <a:lnTo>
                  <a:pt x="16572577" y="2515"/>
                </a:lnTo>
                <a:lnTo>
                  <a:pt x="16617824" y="9886"/>
                </a:lnTo>
                <a:lnTo>
                  <a:pt x="16661352" y="21851"/>
                </a:lnTo>
                <a:lnTo>
                  <a:pt x="16702901" y="38149"/>
                </a:lnTo>
                <a:lnTo>
                  <a:pt x="16742209" y="58519"/>
                </a:lnTo>
                <a:lnTo>
                  <a:pt x="16779014" y="82699"/>
                </a:lnTo>
                <a:lnTo>
                  <a:pt x="16813055" y="110428"/>
                </a:lnTo>
                <a:lnTo>
                  <a:pt x="16844070" y="141443"/>
                </a:lnTo>
                <a:lnTo>
                  <a:pt x="16871799" y="175484"/>
                </a:lnTo>
                <a:lnTo>
                  <a:pt x="16895979" y="212289"/>
                </a:lnTo>
                <a:lnTo>
                  <a:pt x="16916349" y="251597"/>
                </a:lnTo>
                <a:lnTo>
                  <a:pt x="16932647" y="293146"/>
                </a:lnTo>
                <a:lnTo>
                  <a:pt x="16944612" y="336674"/>
                </a:lnTo>
                <a:lnTo>
                  <a:pt x="16951983" y="381921"/>
                </a:lnTo>
                <a:lnTo>
                  <a:pt x="16954499" y="428624"/>
                </a:lnTo>
                <a:lnTo>
                  <a:pt x="16954499" y="8524874"/>
                </a:lnTo>
                <a:lnTo>
                  <a:pt x="16951983" y="8571577"/>
                </a:lnTo>
                <a:lnTo>
                  <a:pt x="16944612" y="8616824"/>
                </a:lnTo>
                <a:lnTo>
                  <a:pt x="16932647" y="8660353"/>
                </a:lnTo>
                <a:lnTo>
                  <a:pt x="16916349" y="8701901"/>
                </a:lnTo>
                <a:lnTo>
                  <a:pt x="16895979" y="8741209"/>
                </a:lnTo>
                <a:lnTo>
                  <a:pt x="16871799" y="8778014"/>
                </a:lnTo>
                <a:lnTo>
                  <a:pt x="16844070" y="8812055"/>
                </a:lnTo>
                <a:lnTo>
                  <a:pt x="16813055" y="8843071"/>
                </a:lnTo>
                <a:lnTo>
                  <a:pt x="16779014" y="8870799"/>
                </a:lnTo>
                <a:lnTo>
                  <a:pt x="16742209" y="8894979"/>
                </a:lnTo>
                <a:lnTo>
                  <a:pt x="16702901" y="8915349"/>
                </a:lnTo>
                <a:lnTo>
                  <a:pt x="16661352" y="8931647"/>
                </a:lnTo>
                <a:lnTo>
                  <a:pt x="16617824" y="8943613"/>
                </a:lnTo>
                <a:lnTo>
                  <a:pt x="16572577" y="8950984"/>
                </a:lnTo>
                <a:lnTo>
                  <a:pt x="16525874" y="8953499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55"/>
              <a:t>CSV</a:t>
            </a:r>
            <a:r>
              <a:rPr dirty="0" spc="-635"/>
              <a:t> </a:t>
            </a:r>
            <a:r>
              <a:rPr dirty="0" spc="-585"/>
              <a:t>Upload</a:t>
            </a:r>
            <a:r>
              <a:rPr dirty="0" spc="-630"/>
              <a:t> </a:t>
            </a:r>
            <a:r>
              <a:rPr dirty="0" spc="-600"/>
              <a:t>Features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787525" y="3213216"/>
            <a:ext cx="630364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29">
                <a:solidFill>
                  <a:srgbClr val="DFDFDF"/>
                </a:solidFill>
                <a:latin typeface="Arial Black"/>
                <a:cs typeface="Arial Black"/>
              </a:rPr>
              <a:t>Streamlining</a:t>
            </a:r>
            <a:r>
              <a:rPr dirty="0" sz="2500" spc="-190">
                <a:solidFill>
                  <a:srgbClr val="DFDFDF"/>
                </a:solidFill>
                <a:latin typeface="Arial Black"/>
                <a:cs typeface="Arial Black"/>
              </a:rPr>
              <a:t> </a:t>
            </a:r>
            <a:r>
              <a:rPr dirty="0" sz="2500" spc="-260">
                <a:solidFill>
                  <a:srgbClr val="DFDFDF"/>
                </a:solidFill>
                <a:latin typeface="Arial Black"/>
                <a:cs typeface="Arial Black"/>
              </a:rPr>
              <a:t>Data</a:t>
            </a:r>
            <a:r>
              <a:rPr dirty="0" sz="2500" spc="-190">
                <a:solidFill>
                  <a:srgbClr val="DFDFDF"/>
                </a:solidFill>
                <a:latin typeface="Arial Black"/>
                <a:cs typeface="Arial Black"/>
              </a:rPr>
              <a:t> </a:t>
            </a:r>
            <a:r>
              <a:rPr dirty="0" sz="2500" spc="-260">
                <a:solidFill>
                  <a:srgbClr val="DFDFDF"/>
                </a:solidFill>
                <a:latin typeface="Arial Black"/>
                <a:cs typeface="Arial Black"/>
              </a:rPr>
              <a:t>Management</a:t>
            </a:r>
            <a:r>
              <a:rPr dirty="0" sz="2500" spc="-190">
                <a:solidFill>
                  <a:srgbClr val="DFDFDF"/>
                </a:solidFill>
                <a:latin typeface="Arial Black"/>
                <a:cs typeface="Arial Black"/>
              </a:rPr>
              <a:t> </a:t>
            </a:r>
            <a:r>
              <a:rPr dirty="0" sz="2500" spc="-180">
                <a:solidFill>
                  <a:srgbClr val="DFDFDF"/>
                </a:solidFill>
                <a:latin typeface="Arial Black"/>
                <a:cs typeface="Arial Black"/>
              </a:rPr>
              <a:t>Processes</a:t>
            </a:r>
            <a:endParaRPr sz="2500">
              <a:latin typeface="Arial Black"/>
              <a:cs typeface="Arial Black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787525" y="5137181"/>
            <a:ext cx="230124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60">
                <a:solidFill>
                  <a:srgbClr val="DFDFDF"/>
                </a:solidFill>
                <a:latin typeface="Arial Black"/>
                <a:cs typeface="Arial Black"/>
              </a:rPr>
              <a:t>Dataset</a:t>
            </a:r>
            <a:r>
              <a:rPr dirty="0" sz="2500" spc="-225">
                <a:solidFill>
                  <a:srgbClr val="DFDFDF"/>
                </a:solidFill>
                <a:latin typeface="Arial Black"/>
                <a:cs typeface="Arial Black"/>
              </a:rPr>
              <a:t> </a:t>
            </a:r>
            <a:r>
              <a:rPr dirty="0" sz="2500" spc="-190">
                <a:solidFill>
                  <a:srgbClr val="DFDFDF"/>
                </a:solidFill>
                <a:latin typeface="Arial Black"/>
                <a:cs typeface="Arial Black"/>
              </a:rPr>
              <a:t>Upload</a:t>
            </a:r>
            <a:endParaRPr sz="2500">
              <a:latin typeface="Arial Black"/>
              <a:cs typeface="Arial Black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787525" y="5899136"/>
            <a:ext cx="4315460" cy="2139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100"/>
              </a:spcBef>
            </a:pPr>
            <a:r>
              <a:rPr dirty="0" sz="2000" spc="-10">
                <a:solidFill>
                  <a:srgbClr val="DFDFDF"/>
                </a:solidFill>
                <a:latin typeface="Trebuchet MS"/>
                <a:cs typeface="Trebuchet MS"/>
              </a:rPr>
              <a:t>The</a:t>
            </a:r>
            <a:r>
              <a:rPr dirty="0" sz="2000" spc="-14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195">
                <a:solidFill>
                  <a:srgbClr val="DFDFDF"/>
                </a:solidFill>
                <a:latin typeface="Trebuchet MS"/>
                <a:cs typeface="Trebuchet MS"/>
              </a:rPr>
              <a:t>CSV</a:t>
            </a:r>
            <a:r>
              <a:rPr dirty="0" sz="2000" spc="-13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20">
                <a:solidFill>
                  <a:srgbClr val="DFDFDF"/>
                </a:solidFill>
                <a:latin typeface="Trebuchet MS"/>
                <a:cs typeface="Trebuchet MS"/>
              </a:rPr>
              <a:t>Upload</a:t>
            </a:r>
            <a:r>
              <a:rPr dirty="0" sz="2000" spc="-14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FDFDF"/>
                </a:solidFill>
                <a:latin typeface="Trebuchet MS"/>
                <a:cs typeface="Trebuchet MS"/>
              </a:rPr>
              <a:t>page</a:t>
            </a:r>
            <a:r>
              <a:rPr dirty="0" sz="2000" spc="-13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20">
                <a:solidFill>
                  <a:srgbClr val="DFDFDF"/>
                </a:solidFill>
                <a:latin typeface="Trebuchet MS"/>
                <a:cs typeface="Trebuchet MS"/>
              </a:rPr>
              <a:t>enables</a:t>
            </a:r>
            <a:r>
              <a:rPr dirty="0" sz="2000" spc="-14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DFDFDF"/>
                </a:solidFill>
                <a:latin typeface="Trebuchet MS"/>
                <a:cs typeface="Trebuchet MS"/>
              </a:rPr>
              <a:t>fleet </a:t>
            </a:r>
            <a:r>
              <a:rPr dirty="0" sz="2000">
                <a:solidFill>
                  <a:srgbClr val="DFDFDF"/>
                </a:solidFill>
                <a:latin typeface="Trebuchet MS"/>
                <a:cs typeface="Trebuchet MS"/>
              </a:rPr>
              <a:t>managers</a:t>
            </a:r>
            <a:r>
              <a:rPr dirty="0" sz="2000" spc="-15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20">
                <a:solidFill>
                  <a:srgbClr val="DFDFDF"/>
                </a:solidFill>
                <a:latin typeface="Trebuchet MS"/>
                <a:cs typeface="Trebuchet MS"/>
              </a:rPr>
              <a:t>to</a:t>
            </a:r>
            <a:r>
              <a:rPr dirty="0" sz="2000" spc="-15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45">
                <a:solidFill>
                  <a:srgbClr val="DFDFDF"/>
                </a:solidFill>
                <a:latin typeface="Trebuchet MS"/>
                <a:cs typeface="Trebuchet MS"/>
              </a:rPr>
              <a:t>easily</a:t>
            </a:r>
            <a:r>
              <a:rPr dirty="0" sz="2000" spc="-15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40">
                <a:solidFill>
                  <a:srgbClr val="DFDFDF"/>
                </a:solidFill>
                <a:latin typeface="Trebuchet MS"/>
                <a:cs typeface="Trebuchet MS"/>
              </a:rPr>
              <a:t>upload</a:t>
            </a:r>
            <a:r>
              <a:rPr dirty="0" sz="2000" spc="-15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DFDFDF"/>
                </a:solidFill>
                <a:latin typeface="Trebuchet MS"/>
                <a:cs typeface="Trebuchet MS"/>
              </a:rPr>
              <a:t>datasets, </a:t>
            </a:r>
            <a:r>
              <a:rPr dirty="0" sz="2000" spc="-125">
                <a:solidFill>
                  <a:srgbClr val="DFDFDF"/>
                </a:solidFill>
                <a:latin typeface="Trebuchet MS"/>
                <a:cs typeface="Trebuchet MS"/>
              </a:rPr>
              <a:t>facilitating</a:t>
            </a:r>
            <a:r>
              <a:rPr dirty="0" sz="2000" spc="-12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30">
                <a:solidFill>
                  <a:srgbClr val="DFDFDF"/>
                </a:solidFill>
                <a:latin typeface="Trebuchet MS"/>
                <a:cs typeface="Trebuchet MS"/>
              </a:rPr>
              <a:t>efficient</a:t>
            </a:r>
            <a:r>
              <a:rPr dirty="0" sz="2000" spc="-114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00">
                <a:solidFill>
                  <a:srgbClr val="DFDFDF"/>
                </a:solidFill>
                <a:latin typeface="Trebuchet MS"/>
                <a:cs typeface="Trebuchet MS"/>
              </a:rPr>
              <a:t>retraining</a:t>
            </a:r>
            <a:r>
              <a:rPr dirty="0" sz="2000" spc="-114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95">
                <a:solidFill>
                  <a:srgbClr val="DFDFDF"/>
                </a:solidFill>
                <a:latin typeface="Trebuchet MS"/>
                <a:cs typeface="Trebuchet MS"/>
              </a:rPr>
              <a:t>of</a:t>
            </a:r>
            <a:r>
              <a:rPr dirty="0" sz="2000" spc="-114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DFDFDF"/>
                </a:solidFill>
                <a:latin typeface="Trebuchet MS"/>
                <a:cs typeface="Trebuchet MS"/>
              </a:rPr>
              <a:t>ETA </a:t>
            </a:r>
            <a:r>
              <a:rPr dirty="0" sz="2000" spc="-55">
                <a:solidFill>
                  <a:srgbClr val="DFDFDF"/>
                </a:solidFill>
                <a:latin typeface="Trebuchet MS"/>
                <a:cs typeface="Trebuchet MS"/>
              </a:rPr>
              <a:t>models.</a:t>
            </a:r>
            <a:r>
              <a:rPr dirty="0" sz="2000" spc="-36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FDFDF"/>
                </a:solidFill>
                <a:latin typeface="Trebuchet MS"/>
                <a:cs typeface="Trebuchet MS"/>
              </a:rPr>
              <a:t>This</a:t>
            </a:r>
            <a:r>
              <a:rPr dirty="0" sz="2000" spc="-10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14">
                <a:solidFill>
                  <a:srgbClr val="DFDFDF"/>
                </a:solidFill>
                <a:latin typeface="Trebuchet MS"/>
                <a:cs typeface="Trebuchet MS"/>
              </a:rPr>
              <a:t>functionality</a:t>
            </a:r>
            <a:r>
              <a:rPr dirty="0" sz="2000" spc="-10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DFDFDF"/>
                </a:solidFill>
                <a:latin typeface="Trebuchet MS"/>
                <a:cs typeface="Trebuchet MS"/>
              </a:rPr>
              <a:t>ensures</a:t>
            </a:r>
            <a:r>
              <a:rPr dirty="0" sz="2000" spc="50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25">
                <a:solidFill>
                  <a:srgbClr val="DFDFDF"/>
                </a:solidFill>
                <a:latin typeface="Trebuchet MS"/>
                <a:cs typeface="Trebuchet MS"/>
              </a:rPr>
              <a:t>timely</a:t>
            </a:r>
            <a:r>
              <a:rPr dirty="0" sz="2000" spc="-13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30">
                <a:solidFill>
                  <a:srgbClr val="DFDFDF"/>
                </a:solidFill>
                <a:latin typeface="Trebuchet MS"/>
                <a:cs typeface="Trebuchet MS"/>
              </a:rPr>
              <a:t>updates</a:t>
            </a:r>
            <a:r>
              <a:rPr dirty="0" sz="2000" spc="-12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20">
                <a:solidFill>
                  <a:srgbClr val="DFDFDF"/>
                </a:solidFill>
                <a:latin typeface="Trebuchet MS"/>
                <a:cs typeface="Trebuchet MS"/>
              </a:rPr>
              <a:t>to</a:t>
            </a:r>
            <a:r>
              <a:rPr dirty="0" sz="2000" spc="-12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00">
                <a:solidFill>
                  <a:srgbClr val="DFDFDF"/>
                </a:solidFill>
                <a:latin typeface="Trebuchet MS"/>
                <a:cs typeface="Trebuchet MS"/>
              </a:rPr>
              <a:t>predictive</a:t>
            </a:r>
            <a:r>
              <a:rPr dirty="0" sz="2000" spc="-13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60">
                <a:solidFill>
                  <a:srgbClr val="DFDFDF"/>
                </a:solidFill>
                <a:latin typeface="Trebuchet MS"/>
                <a:cs typeface="Trebuchet MS"/>
              </a:rPr>
              <a:t>analytics</a:t>
            </a:r>
            <a:r>
              <a:rPr dirty="0" sz="2000" spc="-12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35">
                <a:solidFill>
                  <a:srgbClr val="DFDFDF"/>
                </a:solidFill>
                <a:latin typeface="Trebuchet MS"/>
                <a:cs typeface="Trebuchet MS"/>
              </a:rPr>
              <a:t>for </a:t>
            </a:r>
            <a:r>
              <a:rPr dirty="0" sz="2000" spc="-70">
                <a:solidFill>
                  <a:srgbClr val="DFDFDF"/>
                </a:solidFill>
                <a:latin typeface="Trebuchet MS"/>
                <a:cs typeface="Trebuchet MS"/>
              </a:rPr>
              <a:t>improved</a:t>
            </a:r>
            <a:r>
              <a:rPr dirty="0" sz="2000" spc="-4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50">
                <a:solidFill>
                  <a:srgbClr val="DFDFDF"/>
                </a:solidFill>
                <a:latin typeface="Trebuchet MS"/>
                <a:cs typeface="Trebuchet MS"/>
              </a:rPr>
              <a:t>decision-</a:t>
            </a:r>
            <a:r>
              <a:rPr dirty="0" sz="2000" spc="-10">
                <a:solidFill>
                  <a:srgbClr val="DFDFDF"/>
                </a:solidFill>
                <a:latin typeface="Trebuchet MS"/>
                <a:cs typeface="Trebuchet MS"/>
              </a:rPr>
              <a:t>making.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278687" y="5137181"/>
            <a:ext cx="148717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40">
                <a:solidFill>
                  <a:srgbClr val="DFDFDF"/>
                </a:solidFill>
                <a:latin typeface="Arial Black"/>
                <a:cs typeface="Arial Black"/>
              </a:rPr>
              <a:t>Validation</a:t>
            </a:r>
            <a:endParaRPr sz="2500">
              <a:latin typeface="Arial Black"/>
              <a:cs typeface="Arial Black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278687" y="5899136"/>
            <a:ext cx="4007485" cy="2139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100"/>
              </a:spcBef>
            </a:pPr>
            <a:r>
              <a:rPr dirty="0" sz="2000" spc="-55">
                <a:solidFill>
                  <a:srgbClr val="DFDFDF"/>
                </a:solidFill>
                <a:latin typeface="Trebuchet MS"/>
                <a:cs typeface="Trebuchet MS"/>
              </a:rPr>
              <a:t>Before</a:t>
            </a:r>
            <a:r>
              <a:rPr dirty="0" sz="2000" spc="-12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30">
                <a:solidFill>
                  <a:srgbClr val="DFDFDF"/>
                </a:solidFill>
                <a:latin typeface="Trebuchet MS"/>
                <a:cs typeface="Trebuchet MS"/>
              </a:rPr>
              <a:t>processing,</a:t>
            </a:r>
            <a:r>
              <a:rPr dirty="0" sz="2000" spc="-12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00">
                <a:solidFill>
                  <a:srgbClr val="DFDFDF"/>
                </a:solidFill>
                <a:latin typeface="Trebuchet MS"/>
                <a:cs typeface="Trebuchet MS"/>
              </a:rPr>
              <a:t>the</a:t>
            </a:r>
            <a:r>
              <a:rPr dirty="0" sz="2000" spc="-12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DFDFDF"/>
                </a:solidFill>
                <a:latin typeface="Trebuchet MS"/>
                <a:cs typeface="Trebuchet MS"/>
              </a:rPr>
              <a:t>system </a:t>
            </a:r>
            <a:r>
              <a:rPr dirty="0" sz="2000" spc="-65">
                <a:solidFill>
                  <a:srgbClr val="DFDFDF"/>
                </a:solidFill>
                <a:latin typeface="Trebuchet MS"/>
                <a:cs typeface="Trebuchet MS"/>
              </a:rPr>
              <a:t>performs</a:t>
            </a:r>
            <a:r>
              <a:rPr dirty="0" sz="2000" spc="-10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95">
                <a:solidFill>
                  <a:srgbClr val="DFDFDF"/>
                </a:solidFill>
                <a:latin typeface="Trebuchet MS"/>
                <a:cs typeface="Trebuchet MS"/>
              </a:rPr>
              <a:t>validation</a:t>
            </a:r>
            <a:r>
              <a:rPr dirty="0" sz="2000" spc="-10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FDFDF"/>
                </a:solidFill>
                <a:latin typeface="Trebuchet MS"/>
                <a:cs typeface="Trebuchet MS"/>
              </a:rPr>
              <a:t>checks</a:t>
            </a:r>
            <a:r>
              <a:rPr dirty="0" sz="2000" spc="-10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DFDFDF"/>
                </a:solidFill>
                <a:latin typeface="Trebuchet MS"/>
                <a:cs typeface="Trebuchet MS"/>
              </a:rPr>
              <a:t>on </a:t>
            </a:r>
            <a:r>
              <a:rPr dirty="0" sz="2000" spc="-40">
                <a:solidFill>
                  <a:srgbClr val="DFDFDF"/>
                </a:solidFill>
                <a:latin typeface="Trebuchet MS"/>
                <a:cs typeface="Trebuchet MS"/>
              </a:rPr>
              <a:t>uploaded</a:t>
            </a:r>
            <a:r>
              <a:rPr dirty="0" sz="2000" spc="-13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90">
                <a:solidFill>
                  <a:srgbClr val="DFDFDF"/>
                </a:solidFill>
                <a:latin typeface="Trebuchet MS"/>
                <a:cs typeface="Trebuchet MS"/>
              </a:rPr>
              <a:t>files</a:t>
            </a:r>
            <a:r>
              <a:rPr dirty="0" sz="2000" spc="-13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20">
                <a:solidFill>
                  <a:srgbClr val="DFDFDF"/>
                </a:solidFill>
                <a:latin typeface="Trebuchet MS"/>
                <a:cs typeface="Trebuchet MS"/>
              </a:rPr>
              <a:t>to</a:t>
            </a:r>
            <a:r>
              <a:rPr dirty="0" sz="2000" spc="-13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20">
                <a:solidFill>
                  <a:srgbClr val="DFDFDF"/>
                </a:solidFill>
                <a:latin typeface="Trebuchet MS"/>
                <a:cs typeface="Trebuchet MS"/>
              </a:rPr>
              <a:t>identify</a:t>
            </a:r>
            <a:r>
              <a:rPr dirty="0" sz="2000" spc="-13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60">
                <a:solidFill>
                  <a:srgbClr val="DFDFDF"/>
                </a:solidFill>
                <a:latin typeface="Trebuchet MS"/>
                <a:cs typeface="Trebuchet MS"/>
              </a:rPr>
              <a:t>errors</a:t>
            </a:r>
            <a:r>
              <a:rPr dirty="0" sz="2000" spc="-13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DFDFDF"/>
                </a:solidFill>
                <a:latin typeface="Trebuchet MS"/>
                <a:cs typeface="Trebuchet MS"/>
              </a:rPr>
              <a:t>or </a:t>
            </a:r>
            <a:r>
              <a:rPr dirty="0" sz="2000" spc="-50">
                <a:solidFill>
                  <a:srgbClr val="DFDFDF"/>
                </a:solidFill>
                <a:latin typeface="Trebuchet MS"/>
                <a:cs typeface="Trebuchet MS"/>
              </a:rPr>
              <a:t>inconsistencies,</a:t>
            </a:r>
            <a:r>
              <a:rPr dirty="0" sz="2000" spc="-8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75">
                <a:solidFill>
                  <a:srgbClr val="DFDFDF"/>
                </a:solidFill>
                <a:latin typeface="Trebuchet MS"/>
                <a:cs typeface="Trebuchet MS"/>
              </a:rPr>
              <a:t>allowing</a:t>
            </a:r>
            <a:r>
              <a:rPr dirty="0" sz="2000" spc="-8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FDFDF"/>
                </a:solidFill>
                <a:latin typeface="Trebuchet MS"/>
                <a:cs typeface="Trebuchet MS"/>
              </a:rPr>
              <a:t>users</a:t>
            </a:r>
            <a:r>
              <a:rPr dirty="0" sz="2000" spc="-7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DFDFDF"/>
                </a:solidFill>
                <a:latin typeface="Trebuchet MS"/>
                <a:cs typeface="Trebuchet MS"/>
              </a:rPr>
              <a:t>to </a:t>
            </a:r>
            <a:r>
              <a:rPr dirty="0" sz="2000" spc="-130">
                <a:solidFill>
                  <a:srgbClr val="DFDFDF"/>
                </a:solidFill>
                <a:latin typeface="Trebuchet MS"/>
                <a:cs typeface="Trebuchet MS"/>
              </a:rPr>
              <a:t>rectify</a:t>
            </a:r>
            <a:r>
              <a:rPr dirty="0" sz="2000" spc="-7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FDFDF"/>
                </a:solidFill>
                <a:latin typeface="Trebuchet MS"/>
                <a:cs typeface="Trebuchet MS"/>
              </a:rPr>
              <a:t>issues</a:t>
            </a:r>
            <a:r>
              <a:rPr dirty="0" sz="2000" spc="-7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FDFDF"/>
                </a:solidFill>
                <a:latin typeface="Trebuchet MS"/>
                <a:cs typeface="Trebuchet MS"/>
              </a:rPr>
              <a:t>and</a:t>
            </a:r>
            <a:r>
              <a:rPr dirty="0" sz="2000" spc="-7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DFDFDF"/>
                </a:solidFill>
                <a:latin typeface="Trebuchet MS"/>
                <a:cs typeface="Trebuchet MS"/>
              </a:rPr>
              <a:t>ensure</a:t>
            </a:r>
            <a:r>
              <a:rPr dirty="0" sz="2000" spc="-7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60">
                <a:solidFill>
                  <a:srgbClr val="DFDFDF"/>
                </a:solidFill>
                <a:latin typeface="Trebuchet MS"/>
                <a:cs typeface="Trebuchet MS"/>
              </a:rPr>
              <a:t>high-</a:t>
            </a:r>
            <a:r>
              <a:rPr dirty="0" sz="2000" spc="-65">
                <a:solidFill>
                  <a:srgbClr val="DFDFDF"/>
                </a:solidFill>
                <a:latin typeface="Trebuchet MS"/>
                <a:cs typeface="Trebuchet MS"/>
              </a:rPr>
              <a:t>quality data</a:t>
            </a:r>
            <a:r>
              <a:rPr dirty="0" sz="2000" spc="-14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35">
                <a:solidFill>
                  <a:srgbClr val="DFDFDF"/>
                </a:solidFill>
                <a:latin typeface="Trebuchet MS"/>
                <a:cs typeface="Trebuchet MS"/>
              </a:rPr>
              <a:t>for</a:t>
            </a:r>
            <a:r>
              <a:rPr dirty="0" sz="2000" spc="-14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55">
                <a:solidFill>
                  <a:srgbClr val="DFDFDF"/>
                </a:solidFill>
                <a:latin typeface="Trebuchet MS"/>
                <a:cs typeface="Trebuchet MS"/>
              </a:rPr>
              <a:t>model</a:t>
            </a:r>
            <a:r>
              <a:rPr dirty="0" sz="2000" spc="-14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DFDFDF"/>
                </a:solidFill>
                <a:latin typeface="Trebuchet MS"/>
                <a:cs typeface="Trebuchet MS"/>
              </a:rPr>
              <a:t>training.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160249" y="5137181"/>
            <a:ext cx="210629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20">
                <a:solidFill>
                  <a:srgbClr val="DFDFDF"/>
                </a:solidFill>
                <a:latin typeface="Arial Black"/>
                <a:cs typeface="Arial Black"/>
              </a:rPr>
              <a:t>Model</a:t>
            </a:r>
            <a:r>
              <a:rPr dirty="0" sz="2500" spc="-195">
                <a:solidFill>
                  <a:srgbClr val="DFDFDF"/>
                </a:solidFill>
                <a:latin typeface="Arial Black"/>
                <a:cs typeface="Arial Black"/>
              </a:rPr>
              <a:t> </a:t>
            </a:r>
            <a:r>
              <a:rPr dirty="0" sz="2500" spc="-229">
                <a:solidFill>
                  <a:srgbClr val="DFDFDF"/>
                </a:solidFill>
                <a:latin typeface="Arial Black"/>
                <a:cs typeface="Arial Black"/>
              </a:rPr>
              <a:t>Metrics</a:t>
            </a:r>
            <a:endParaRPr sz="2500">
              <a:latin typeface="Arial Black"/>
              <a:cs typeface="Arial Black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2160249" y="5899136"/>
            <a:ext cx="4033520" cy="2139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100"/>
              </a:spcBef>
            </a:pPr>
            <a:r>
              <a:rPr dirty="0" sz="2000" spc="-110">
                <a:solidFill>
                  <a:srgbClr val="DFDFDF"/>
                </a:solidFill>
                <a:latin typeface="Trebuchet MS"/>
                <a:cs typeface="Trebuchet MS"/>
              </a:rPr>
              <a:t>After</a:t>
            </a:r>
            <a:r>
              <a:rPr dirty="0" sz="2000" spc="-14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10">
                <a:solidFill>
                  <a:srgbClr val="DFDFDF"/>
                </a:solidFill>
                <a:latin typeface="Trebuchet MS"/>
                <a:cs typeface="Trebuchet MS"/>
              </a:rPr>
              <a:t>retraining,</a:t>
            </a:r>
            <a:r>
              <a:rPr dirty="0" sz="2000" spc="-14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00">
                <a:solidFill>
                  <a:srgbClr val="DFDFDF"/>
                </a:solidFill>
                <a:latin typeface="Trebuchet MS"/>
                <a:cs typeface="Trebuchet MS"/>
              </a:rPr>
              <a:t>the</a:t>
            </a:r>
            <a:r>
              <a:rPr dirty="0" sz="2000" spc="-14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40">
                <a:solidFill>
                  <a:srgbClr val="DFDFDF"/>
                </a:solidFill>
                <a:latin typeface="Trebuchet MS"/>
                <a:cs typeface="Trebuchet MS"/>
              </a:rPr>
              <a:t>upload</a:t>
            </a:r>
            <a:r>
              <a:rPr dirty="0" sz="2000" spc="-13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20">
                <a:solidFill>
                  <a:srgbClr val="DFDFDF"/>
                </a:solidFill>
                <a:latin typeface="Trebuchet MS"/>
                <a:cs typeface="Trebuchet MS"/>
              </a:rPr>
              <a:t>page </a:t>
            </a:r>
            <a:r>
              <a:rPr dirty="0" sz="2000" spc="-30">
                <a:solidFill>
                  <a:srgbClr val="DFDFDF"/>
                </a:solidFill>
                <a:latin typeface="Trebuchet MS"/>
                <a:cs typeface="Trebuchet MS"/>
              </a:rPr>
              <a:t>displays</a:t>
            </a:r>
            <a:r>
              <a:rPr dirty="0" sz="2000" spc="-12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55">
                <a:solidFill>
                  <a:srgbClr val="DFDFDF"/>
                </a:solidFill>
                <a:latin typeface="Trebuchet MS"/>
                <a:cs typeface="Trebuchet MS"/>
              </a:rPr>
              <a:t>updated</a:t>
            </a:r>
            <a:r>
              <a:rPr dirty="0" sz="2000" spc="-12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55">
                <a:solidFill>
                  <a:srgbClr val="DFDFDF"/>
                </a:solidFill>
                <a:latin typeface="Trebuchet MS"/>
                <a:cs typeface="Trebuchet MS"/>
              </a:rPr>
              <a:t>model</a:t>
            </a:r>
            <a:r>
              <a:rPr dirty="0" sz="2000" spc="-12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35">
                <a:solidFill>
                  <a:srgbClr val="DFDFDF"/>
                </a:solidFill>
                <a:latin typeface="Trebuchet MS"/>
                <a:cs typeface="Trebuchet MS"/>
              </a:rPr>
              <a:t>performance </a:t>
            </a:r>
            <a:r>
              <a:rPr dirty="0" sz="2000" spc="-100">
                <a:solidFill>
                  <a:srgbClr val="DFDFDF"/>
                </a:solidFill>
                <a:latin typeface="Trebuchet MS"/>
                <a:cs typeface="Trebuchet MS"/>
              </a:rPr>
              <a:t>metrics,</a:t>
            </a:r>
            <a:r>
              <a:rPr dirty="0" sz="2000" spc="-13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FDFDF"/>
                </a:solidFill>
                <a:latin typeface="Trebuchet MS"/>
                <a:cs typeface="Trebuchet MS"/>
              </a:rPr>
              <a:t>such</a:t>
            </a:r>
            <a:r>
              <a:rPr dirty="0" sz="2000" spc="-13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95">
                <a:solidFill>
                  <a:srgbClr val="DFDFDF"/>
                </a:solidFill>
                <a:latin typeface="Trebuchet MS"/>
                <a:cs typeface="Trebuchet MS"/>
              </a:rPr>
              <a:t>as</a:t>
            </a:r>
            <a:r>
              <a:rPr dirty="0" sz="2000" spc="-13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45">
                <a:solidFill>
                  <a:srgbClr val="DFDFDF"/>
                </a:solidFill>
                <a:latin typeface="Trebuchet MS"/>
                <a:cs typeface="Trebuchet MS"/>
              </a:rPr>
              <a:t>R²,</a:t>
            </a:r>
            <a:r>
              <a:rPr dirty="0" sz="2000" spc="-13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150">
                <a:solidFill>
                  <a:srgbClr val="DFDFDF"/>
                </a:solidFill>
                <a:latin typeface="Trebuchet MS"/>
                <a:cs typeface="Trebuchet MS"/>
              </a:rPr>
              <a:t>RMSE,</a:t>
            </a:r>
            <a:r>
              <a:rPr dirty="0" sz="2000" spc="-13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DFDFDF"/>
                </a:solidFill>
                <a:latin typeface="Trebuchet MS"/>
                <a:cs typeface="Trebuchet MS"/>
              </a:rPr>
              <a:t>and </a:t>
            </a:r>
            <a:r>
              <a:rPr dirty="0" sz="2000" spc="85">
                <a:solidFill>
                  <a:srgbClr val="DFDFDF"/>
                </a:solidFill>
                <a:latin typeface="Trebuchet MS"/>
                <a:cs typeface="Trebuchet MS"/>
              </a:rPr>
              <a:t>MAE,</a:t>
            </a:r>
            <a:r>
              <a:rPr dirty="0" sz="2000" spc="-13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65">
                <a:solidFill>
                  <a:srgbClr val="DFDFDF"/>
                </a:solidFill>
                <a:latin typeface="Trebuchet MS"/>
                <a:cs typeface="Trebuchet MS"/>
              </a:rPr>
              <a:t>providing</a:t>
            </a:r>
            <a:r>
              <a:rPr dirty="0" sz="2000" spc="-13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40">
                <a:solidFill>
                  <a:srgbClr val="DFDFDF"/>
                </a:solidFill>
                <a:latin typeface="Trebuchet MS"/>
                <a:cs typeface="Trebuchet MS"/>
              </a:rPr>
              <a:t>insights</a:t>
            </a:r>
            <a:r>
              <a:rPr dirty="0" sz="2000" spc="-13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14">
                <a:solidFill>
                  <a:srgbClr val="DFDFDF"/>
                </a:solidFill>
                <a:latin typeface="Trebuchet MS"/>
                <a:cs typeface="Trebuchet MS"/>
              </a:rPr>
              <a:t>into</a:t>
            </a:r>
            <a:r>
              <a:rPr dirty="0" sz="2000" spc="-13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DFDFDF"/>
                </a:solidFill>
                <a:latin typeface="Trebuchet MS"/>
                <a:cs typeface="Trebuchet MS"/>
              </a:rPr>
              <a:t>the </a:t>
            </a:r>
            <a:r>
              <a:rPr dirty="0" sz="2000" spc="-10">
                <a:solidFill>
                  <a:srgbClr val="DFDFDF"/>
                </a:solidFill>
                <a:latin typeface="Trebuchet MS"/>
                <a:cs typeface="Trebuchet MS"/>
              </a:rPr>
              <a:t>model's</a:t>
            </a:r>
            <a:r>
              <a:rPr dirty="0" sz="2000" spc="-15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35">
                <a:solidFill>
                  <a:srgbClr val="DFDFDF"/>
                </a:solidFill>
                <a:latin typeface="Trebuchet MS"/>
                <a:cs typeface="Trebuchet MS"/>
              </a:rPr>
              <a:t>accuracy</a:t>
            </a:r>
            <a:r>
              <a:rPr dirty="0" sz="2000" spc="-14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FDFDF"/>
                </a:solidFill>
                <a:latin typeface="Trebuchet MS"/>
                <a:cs typeface="Trebuchet MS"/>
              </a:rPr>
              <a:t>and</a:t>
            </a:r>
            <a:r>
              <a:rPr dirty="0" sz="2000" spc="-15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DFDFDF"/>
                </a:solidFill>
                <a:latin typeface="Trebuchet MS"/>
                <a:cs typeface="Trebuchet MS"/>
              </a:rPr>
              <a:t>effectiveness </a:t>
            </a:r>
            <a:r>
              <a:rPr dirty="0" sz="2000" spc="-135">
                <a:solidFill>
                  <a:srgbClr val="DFDFDF"/>
                </a:solidFill>
                <a:latin typeface="Trebuchet MS"/>
                <a:cs typeface="Trebuchet MS"/>
              </a:rPr>
              <a:t>for</a:t>
            </a:r>
            <a:r>
              <a:rPr dirty="0" sz="2000" spc="-145">
                <a:solidFill>
                  <a:srgbClr val="DFDFDF"/>
                </a:solidFill>
                <a:latin typeface="Trebuchet MS"/>
                <a:cs typeface="Trebuchet MS"/>
              </a:rPr>
              <a:t> fleet </a:t>
            </a:r>
            <a:r>
              <a:rPr dirty="0" sz="2000" spc="-10">
                <a:solidFill>
                  <a:srgbClr val="DFDFDF"/>
                </a:solidFill>
                <a:latin typeface="Trebuchet MS"/>
                <a:cs typeface="Trebuchet MS"/>
              </a:rPr>
              <a:t>operations.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69953" y="7722196"/>
            <a:ext cx="2005025" cy="22505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7858125" cy="10283190"/>
            <a:chOff x="0" y="0"/>
            <a:chExt cx="7858125" cy="10283190"/>
          </a:xfrm>
        </p:grpSpPr>
        <p:sp>
          <p:nvSpPr>
            <p:cNvPr id="3" name="object 3" descr=""/>
            <p:cNvSpPr/>
            <p:nvPr/>
          </p:nvSpPr>
          <p:spPr>
            <a:xfrm>
              <a:off x="0" y="0"/>
              <a:ext cx="7858125" cy="10283190"/>
            </a:xfrm>
            <a:custGeom>
              <a:avLst/>
              <a:gdLst/>
              <a:ahLst/>
              <a:cxnLst/>
              <a:rect l="l" t="t" r="r" b="b"/>
              <a:pathLst>
                <a:path w="7858125" h="10283190">
                  <a:moveTo>
                    <a:pt x="7858125" y="10283093"/>
                  </a:moveTo>
                  <a:lnTo>
                    <a:pt x="0" y="10283093"/>
                  </a:lnTo>
                  <a:lnTo>
                    <a:pt x="0" y="0"/>
                  </a:lnTo>
                  <a:lnTo>
                    <a:pt x="7858125" y="0"/>
                  </a:lnTo>
                  <a:lnTo>
                    <a:pt x="7858125" y="10283093"/>
                  </a:lnTo>
                  <a:close/>
                </a:path>
              </a:pathLst>
            </a:custGeom>
            <a:solidFill>
              <a:srgbClr val="3A86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2512" y="666749"/>
              <a:ext cx="5753099" cy="894427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89263" y="7722194"/>
              <a:ext cx="2005025" cy="225050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9283700" y="8347061"/>
            <a:ext cx="6548120" cy="1263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6900"/>
              </a:lnSpc>
              <a:spcBef>
                <a:spcPts val="100"/>
              </a:spcBef>
            </a:pPr>
            <a:r>
              <a:rPr dirty="0" sz="3800" spc="-110">
                <a:solidFill>
                  <a:srgbClr val="DFDFDF"/>
                </a:solidFill>
                <a:latin typeface="Trebuchet MS"/>
                <a:cs typeface="Trebuchet MS"/>
              </a:rPr>
              <a:t>Streamlining</a:t>
            </a:r>
            <a:r>
              <a:rPr dirty="0" sz="3800" spc="-265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3800" spc="-30">
                <a:solidFill>
                  <a:srgbClr val="DFDFDF"/>
                </a:solidFill>
                <a:latin typeface="Trebuchet MS"/>
                <a:cs typeface="Trebuchet MS"/>
              </a:rPr>
              <a:t>Data</a:t>
            </a:r>
            <a:r>
              <a:rPr dirty="0" sz="3800" spc="-26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dirty="0" sz="3800" spc="-10">
                <a:solidFill>
                  <a:srgbClr val="DFDFDF"/>
                </a:solidFill>
                <a:latin typeface="Trebuchet MS"/>
                <a:cs typeface="Trebuchet MS"/>
              </a:rPr>
              <a:t>Management </a:t>
            </a:r>
            <a:r>
              <a:rPr dirty="0" sz="3800" spc="-25">
                <a:solidFill>
                  <a:srgbClr val="DFDFDF"/>
                </a:solidFill>
                <a:latin typeface="Trebuchet MS"/>
                <a:cs typeface="Trebuchet MS"/>
              </a:rPr>
              <a:t>Efficiency</a:t>
            </a:r>
            <a:endParaRPr sz="3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291058" y="554336"/>
            <a:ext cx="8234045" cy="4200525"/>
          </a:xfrm>
          <a:prstGeom prst="rect"/>
        </p:spPr>
        <p:txBody>
          <a:bodyPr wrap="square" lIns="0" tIns="396240" rIns="0" bIns="0" rtlCol="0" vert="horz">
            <a:spAutoFit/>
          </a:bodyPr>
          <a:lstStyle/>
          <a:p>
            <a:pPr marL="12700" marR="5080">
              <a:lnSpc>
                <a:spcPts val="14919"/>
              </a:lnSpc>
              <a:spcBef>
                <a:spcPts val="3120"/>
              </a:spcBef>
            </a:pPr>
            <a:r>
              <a:rPr dirty="0" sz="14950" spc="-1675"/>
              <a:t>T</a:t>
            </a:r>
            <a:r>
              <a:rPr dirty="0" sz="14950" spc="-1210"/>
              <a:t>ec</a:t>
            </a:r>
            <a:r>
              <a:rPr dirty="0" sz="14950" spc="-1220"/>
              <a:t>hn</a:t>
            </a:r>
            <a:r>
              <a:rPr dirty="0" sz="14950" spc="-1205"/>
              <a:t>o</a:t>
            </a:r>
            <a:r>
              <a:rPr dirty="0" sz="14950" spc="-1195"/>
              <a:t>l</a:t>
            </a:r>
            <a:r>
              <a:rPr dirty="0" sz="14950" spc="-1205"/>
              <a:t>og</a:t>
            </a:r>
            <a:r>
              <a:rPr dirty="0" sz="14950" spc="-630"/>
              <a:t>y</a:t>
            </a:r>
            <a:r>
              <a:rPr dirty="0" sz="14950" spc="-1200"/>
              <a:t> </a:t>
            </a:r>
            <a:r>
              <a:rPr dirty="0" sz="14950" spc="-1170"/>
              <a:t>S</a:t>
            </a:r>
            <a:r>
              <a:rPr dirty="0" sz="14950" spc="-1190"/>
              <a:t>t</a:t>
            </a:r>
            <a:r>
              <a:rPr dirty="0" sz="14950" spc="-1200"/>
              <a:t>a</a:t>
            </a:r>
            <a:r>
              <a:rPr dirty="0" sz="14950" spc="-1190"/>
              <a:t>c</a:t>
            </a:r>
            <a:r>
              <a:rPr dirty="0" sz="14950" spc="-610"/>
              <a:t>k</a:t>
            </a:r>
            <a:endParaRPr sz="149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Akhilesh singh Rathod</dc:creator>
  <cp:keywords>DAG54n-G-NI,BAGTjF16Ts4,0</cp:keywords>
  <dc:title>Presentation - NeuroFleetX Taxi Fleet Manager</dc:title>
  <dcterms:created xsi:type="dcterms:W3CDTF">2025-11-27T12:44:50Z</dcterms:created>
  <dcterms:modified xsi:type="dcterms:W3CDTF">2025-11-27T12:44:50Z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2025-11-27T00:00:00Z</vt:filetime>
  </property>
  <property fmtid="{D5CDD505-2E9C-101B-9397-08002B2CF9AE}" pid="3" name="Creator">
    <vt:lpwstr>Canva</vt:lpwstr>
  </property>
  <property fmtid="{D5CDD505-2E9C-101B-9397-08002B2CF9AE}" pid="4" name="LastSaved">
    <vt:filetime>2025-11-27T00:00:00Z</vt:filetime>
  </property>
  <property fmtid="{D5CDD505-2E9C-101B-9397-08002B2CF9AE}" pid="5" name="Producer">
    <vt:lpwstr>Canva</vt:lpwstr>
  </property>
  <property fmtid="{D5CDD505-2E9C-101B-9397-08002B2CF9AE}" pid="6" name="containsAiGeneratedContent">
    <vt:lpwstr>Yes</vt:lpwstr>
  </property>
</Properties>
</file>